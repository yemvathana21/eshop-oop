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3" r:id="rId12"/>
    <p:sldId id="266" r:id="rId13"/>
    <p:sldId id="267" r:id="rId14"/>
    <p:sldId id="268" r:id="rId15"/>
    <p:sldId id="269" r:id="rId16"/>
    <p:sldId id="270" r:id="rId17"/>
    <p:sldId id="276" r:id="rId18"/>
    <p:sldId id="277" r:id="rId19"/>
    <p:sldId id="278" r:id="rId20"/>
    <p:sldId id="279" r:id="rId21"/>
    <p:sldId id="280" r:id="rId22"/>
    <p:sldId id="271" r:id="rId23"/>
    <p:sldId id="275" r:id="rId24"/>
    <p:sldId id="272" r:id="rId25"/>
    <p:sldId id="274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158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6589FF-FA41-4406-BDF2-0B5C8066C035}" type="datetimeFigureOut">
              <a:rPr lang="en-US" smtClean="0"/>
              <a:t>8/23/2020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7777C0-991D-451E-A00A-9F32FE346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108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AC1DD-2A28-4C4B-BDE4-A9D113117251}" type="datetime1">
              <a:rPr lang="en-US" smtClean="0"/>
              <a:t>8/23/2020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FD16A-E3FF-4CFC-B3EE-A6F7727BE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775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A921E-F02A-4EE5-9CA5-7EED6F615A0F}" type="datetime1">
              <a:rPr lang="en-US" smtClean="0"/>
              <a:t>8/23/2020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FD16A-E3FF-4CFC-B3EE-A6F7727BE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555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7D689-8CFE-4D37-AA59-FDF7DAEFAE28}" type="datetime1">
              <a:rPr lang="en-US" smtClean="0"/>
              <a:t>8/23/2020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FD16A-E3FF-4CFC-B3EE-A6F7727BE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555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56832-DA8B-47BF-8159-7FAF7EC2A588}" type="datetime1">
              <a:rPr lang="en-US" smtClean="0"/>
              <a:t>8/23/2020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FD16A-E3FF-4CFC-B3EE-A6F7727BE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993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7C850-3DB5-4269-838F-77E1E1720EF6}" type="datetime1">
              <a:rPr lang="en-US" smtClean="0"/>
              <a:t>8/23/2020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FD16A-E3FF-4CFC-B3EE-A6F7727BE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519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DCC10-1961-4AC5-857E-EEAC5E9C3326}" type="datetime1">
              <a:rPr lang="en-US" smtClean="0"/>
              <a:t>8/23/2020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FD16A-E3FF-4CFC-B3EE-A6F7727BE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880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08E13-63CA-4278-89DB-060A762072EC}" type="datetime1">
              <a:rPr lang="en-US" smtClean="0"/>
              <a:t>8/23/2020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FD16A-E3FF-4CFC-B3EE-A6F7727BE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774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13522-9C0D-415A-8682-3EA1A4432EF6}" type="datetime1">
              <a:rPr lang="en-US" smtClean="0"/>
              <a:t>8/23/2020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FD16A-E3FF-4CFC-B3EE-A6F7727BE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145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B8EF-09A4-44D7-AEC2-E95CBDFF199B}" type="datetime1">
              <a:rPr lang="en-US" smtClean="0"/>
              <a:t>8/23/2020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FD16A-E3FF-4CFC-B3EE-A6F7727BE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037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3F4A6-A608-42F2-B2C7-2DCB7CAEBAFC}" type="datetime1">
              <a:rPr lang="en-US" smtClean="0"/>
              <a:t>8/23/2020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FD16A-E3FF-4CFC-B3EE-A6F7727BE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908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2A6DC-99CF-4BA3-BF04-1BA1C3C699C5}" type="datetime1">
              <a:rPr lang="en-US" smtClean="0"/>
              <a:t>8/23/2020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FD16A-E3FF-4CFC-B3EE-A6F7727BE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15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1F6D90-B381-4C25-8BF0-FC31C96FA200}" type="datetime1">
              <a:rPr lang="en-US" smtClean="0"/>
              <a:t>8/23/2020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4FD16A-E3FF-4CFC-B3EE-A6F7727BE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326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381000" cy="365125"/>
          </a:xfrm>
        </p:spPr>
        <p:txBody>
          <a:bodyPr/>
          <a:lstStyle/>
          <a:p>
            <a:fld id="{344FD16A-E3FF-4CFC-B3EE-A6F7727BED3D}" type="slidenum">
              <a:rPr lang="en-US" sz="2000" smtClean="0">
                <a:solidFill>
                  <a:schemeClr val="bg1"/>
                </a:solidFill>
                <a:latin typeface="Calligraphic" pitchFamily="2" charset="0"/>
              </a:rPr>
              <a:t>1</a:t>
            </a:fld>
            <a:endParaRPr lang="en-US" sz="2000" dirty="0">
              <a:solidFill>
                <a:schemeClr val="bg1"/>
              </a:solidFill>
              <a:latin typeface="Calligraphic" pitchFamily="2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419197"/>
            <a:ext cx="1848204" cy="18482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678886" y="685800"/>
            <a:ext cx="6388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 smtClean="0">
                <a:solidFill>
                  <a:schemeClr val="bg1">
                    <a:lumMod val="85000"/>
                  </a:schemeClr>
                </a:solidFill>
                <a:latin typeface="Sputnikk" pitchFamily="50" charset="0"/>
              </a:rPr>
              <a:t>Preah</a:t>
            </a:r>
            <a:r>
              <a:rPr lang="en-US" sz="3200" dirty="0" smtClean="0">
                <a:solidFill>
                  <a:schemeClr val="bg1">
                    <a:lumMod val="85000"/>
                  </a:schemeClr>
                </a:solidFill>
                <a:latin typeface="Sputnikk" pitchFamily="50" charset="0"/>
              </a:rPr>
              <a:t> </a:t>
            </a:r>
            <a:r>
              <a:rPr lang="en-US" sz="3200" dirty="0" err="1" smtClean="0">
                <a:solidFill>
                  <a:schemeClr val="bg1">
                    <a:lumMod val="85000"/>
                  </a:schemeClr>
                </a:solidFill>
                <a:latin typeface="Sputnikk" pitchFamily="50" charset="0"/>
              </a:rPr>
              <a:t>Sihamoniraja</a:t>
            </a:r>
            <a:r>
              <a:rPr lang="en-US" sz="3200" dirty="0" smtClean="0">
                <a:solidFill>
                  <a:schemeClr val="bg1">
                    <a:lumMod val="85000"/>
                  </a:schemeClr>
                </a:solidFill>
                <a:latin typeface="Sputnikk" pitchFamily="50" charset="0"/>
              </a:rPr>
              <a:t> Buddhist University</a:t>
            </a:r>
            <a:endParaRPr lang="en-US" sz="3200" dirty="0">
              <a:solidFill>
                <a:schemeClr val="bg1">
                  <a:lumMod val="85000"/>
                </a:schemeClr>
              </a:solidFill>
              <a:latin typeface="Sputnikk" pitchFamily="50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76600" y="1214735"/>
            <a:ext cx="548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Bahamas" pitchFamily="2" charset="0"/>
              </a:rPr>
              <a:t>Department </a:t>
            </a:r>
            <a:r>
              <a:rPr lang="en-US" sz="2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Bahamas" pitchFamily="2" charset="0"/>
              </a:rPr>
              <a:t>of </a:t>
            </a:r>
            <a:r>
              <a:rPr lang="en-US" sz="2400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latin typeface="Bahamas" pitchFamily="2" charset="0"/>
              </a:rPr>
              <a:t>Informaton</a:t>
            </a:r>
            <a:r>
              <a:rPr lang="en-US" sz="2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Bahamas" pitchFamily="2" charset="0"/>
              </a:rPr>
              <a:t> Technology</a:t>
            </a:r>
            <a:endParaRPr lang="en-US" sz="2400" dirty="0">
              <a:solidFill>
                <a:schemeClr val="accent1">
                  <a:lumMod val="60000"/>
                  <a:lumOff val="40000"/>
                </a:schemeClr>
              </a:solidFill>
              <a:latin typeface="Bahamas" pitchFamily="2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943350"/>
            <a:ext cx="5219700" cy="1238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90600" y="2811959"/>
            <a:ext cx="5029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Duepuntozero" pitchFamily="2" charset="0"/>
              </a:rPr>
              <a:t>Database Assignment</a:t>
            </a:r>
            <a:endParaRPr lang="en-US" sz="4400" dirty="0">
              <a:solidFill>
                <a:schemeClr val="accent1">
                  <a:lumMod val="40000"/>
                  <a:lumOff val="60000"/>
                </a:schemeClr>
              </a:solidFill>
              <a:latin typeface="Duepuntozero" pitchFamily="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19200" y="5715000"/>
            <a:ext cx="3448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Duepuntozero" pitchFamily="2" charset="0"/>
              </a:rPr>
              <a:t>Class M6 , Group 10</a:t>
            </a:r>
            <a:endParaRPr lang="en-US" sz="2000" dirty="0">
              <a:solidFill>
                <a:schemeClr val="accent1">
                  <a:lumMod val="40000"/>
                  <a:lumOff val="60000"/>
                </a:schemeClr>
              </a:solidFill>
              <a:latin typeface="Duepuntozero" pitchFamily="2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00150" y="6096000"/>
            <a:ext cx="3448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Duepuntozero" pitchFamily="2" charset="0"/>
              </a:rPr>
              <a:t>2017-2018</a:t>
            </a:r>
            <a:endParaRPr lang="en-US" sz="2000" dirty="0">
              <a:solidFill>
                <a:schemeClr val="accent1">
                  <a:lumMod val="40000"/>
                  <a:lumOff val="60000"/>
                </a:schemeClr>
              </a:solidFill>
              <a:latin typeface="Duepuntozer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606886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492875"/>
            <a:ext cx="381000" cy="365125"/>
          </a:xfrm>
        </p:spPr>
        <p:txBody>
          <a:bodyPr/>
          <a:lstStyle/>
          <a:p>
            <a:fld id="{344FD16A-E3FF-4CFC-B3EE-A6F7727BED3D}" type="slidenum">
              <a:rPr lang="en-US" sz="2000" smtClean="0">
                <a:solidFill>
                  <a:schemeClr val="bg1"/>
                </a:solidFill>
                <a:latin typeface="Duepuntozero" pitchFamily="2" charset="0"/>
              </a:rPr>
              <a:t>2</a:t>
            </a:fld>
            <a:endParaRPr lang="en-US" sz="2000" dirty="0">
              <a:solidFill>
                <a:schemeClr val="bg1"/>
              </a:solidFill>
              <a:latin typeface="Duepuntozero" pitchFamily="2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28600" y="15875"/>
            <a:ext cx="8642757" cy="6519626"/>
            <a:chOff x="228600" y="15875"/>
            <a:chExt cx="8642757" cy="6519626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600" y="15875"/>
              <a:ext cx="5219700" cy="1238250"/>
            </a:xfrm>
            <a:prstGeom prst="rect">
              <a:avLst/>
            </a:prstGeom>
          </p:spPr>
        </p:pic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000" y="1254125"/>
              <a:ext cx="8490357" cy="5281376"/>
            </a:xfrm>
            <a:prstGeom prst="rect">
              <a:avLst/>
            </a:prstGeom>
          </p:spPr>
        </p:pic>
      </p:grpSp>
      <p:sp>
        <p:nvSpPr>
          <p:cNvPr id="3" name="TextBox 2"/>
          <p:cNvSpPr txBox="1"/>
          <p:nvPr/>
        </p:nvSpPr>
        <p:spPr>
          <a:xfrm>
            <a:off x="7543800" y="209490"/>
            <a:ext cx="1181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Bahamas" pitchFamily="2" charset="0"/>
              </a:rPr>
              <a:t>Group</a:t>
            </a:r>
            <a:r>
              <a:rPr lang="en-US" dirty="0" smtClean="0">
                <a:solidFill>
                  <a:schemeClr val="bg1"/>
                </a:solidFill>
                <a:latin typeface="Bahamas" pitchFamily="2" charset="0"/>
              </a:rPr>
              <a:t> 10</a:t>
            </a:r>
            <a:endParaRPr lang="en-US" dirty="0">
              <a:solidFill>
                <a:schemeClr val="bg1"/>
              </a:solidFill>
              <a:latin typeface="Bahamas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81370" y="1696660"/>
            <a:ext cx="34669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chemeClr val="accent1">
                    <a:lumMod val="75000"/>
                  </a:schemeClr>
                </a:solidFill>
                <a:latin typeface="Duepuntozero" pitchFamily="2" charset="0"/>
              </a:rPr>
              <a:t>Group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Duepuntozero" pitchFamily="2" charset="0"/>
              </a:rPr>
              <a:t> </a:t>
            </a:r>
            <a:r>
              <a:rPr lang="en-US" sz="4000" dirty="0" smtClean="0">
                <a:solidFill>
                  <a:schemeClr val="accent1">
                    <a:lumMod val="75000"/>
                  </a:schemeClr>
                </a:solidFill>
                <a:latin typeface="Duepuntozero" pitchFamily="2" charset="0"/>
              </a:rPr>
              <a:t>Member</a:t>
            </a:r>
            <a:endParaRPr lang="en-US" sz="4000" dirty="0">
              <a:solidFill>
                <a:schemeClr val="accent1">
                  <a:lumMod val="75000"/>
                </a:schemeClr>
              </a:solidFill>
              <a:latin typeface="Duepuntozero" pitchFamily="2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305445"/>
            <a:ext cx="1219370" cy="12193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95400" y="2819400"/>
            <a:ext cx="350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 err="1" smtClean="0">
                <a:solidFill>
                  <a:schemeClr val="accent1">
                    <a:lumMod val="75000"/>
                  </a:schemeClr>
                </a:solidFill>
                <a:latin typeface="Bahamas" pitchFamily="2" charset="0"/>
              </a:rPr>
              <a:t>Choun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Bahamas" pitchFamily="2" charset="0"/>
              </a:rPr>
              <a:t> </a:t>
            </a:r>
            <a:r>
              <a:rPr lang="en-US" sz="2800" dirty="0" err="1" smtClean="0">
                <a:solidFill>
                  <a:schemeClr val="accent1">
                    <a:lumMod val="75000"/>
                  </a:schemeClr>
                </a:solidFill>
                <a:latin typeface="Bahamas" pitchFamily="2" charset="0"/>
              </a:rPr>
              <a:t>Rothana</a:t>
            </a:r>
            <a:endParaRPr lang="en-US" sz="2800" dirty="0" smtClean="0">
              <a:solidFill>
                <a:schemeClr val="accent1">
                  <a:lumMod val="75000"/>
                </a:schemeClr>
              </a:solidFill>
              <a:latin typeface="Bahamas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70000" y="3429000"/>
            <a:ext cx="350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 err="1" smtClean="0">
                <a:solidFill>
                  <a:schemeClr val="accent1">
                    <a:lumMod val="75000"/>
                  </a:schemeClr>
                </a:solidFill>
                <a:latin typeface="Bahamas" pitchFamily="2" charset="0"/>
              </a:rPr>
              <a:t>Ros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Bahamas" pitchFamily="2" charset="0"/>
              </a:rPr>
              <a:t> </a:t>
            </a:r>
            <a:r>
              <a:rPr lang="en-US" sz="2800" dirty="0" err="1" smtClean="0">
                <a:solidFill>
                  <a:schemeClr val="accent1">
                    <a:lumMod val="75000"/>
                  </a:schemeClr>
                </a:solidFill>
                <a:latin typeface="Bahamas" pitchFamily="2" charset="0"/>
              </a:rPr>
              <a:t>Sopheaktra</a:t>
            </a:r>
            <a:endParaRPr lang="en-US" sz="2800" dirty="0" smtClean="0">
              <a:solidFill>
                <a:schemeClr val="accent1">
                  <a:lumMod val="75000"/>
                </a:schemeClr>
              </a:solidFill>
              <a:latin typeface="Bahamas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95400" y="4038600"/>
            <a:ext cx="350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 err="1" smtClean="0">
                <a:solidFill>
                  <a:schemeClr val="accent1">
                    <a:lumMod val="75000"/>
                  </a:schemeClr>
                </a:solidFill>
                <a:latin typeface="Bahamas" pitchFamily="2" charset="0"/>
              </a:rPr>
              <a:t>Samrith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Bahamas" pitchFamily="2" charset="0"/>
              </a:rPr>
              <a:t> </a:t>
            </a:r>
            <a:r>
              <a:rPr lang="en-US" sz="2800" dirty="0" err="1" smtClean="0">
                <a:solidFill>
                  <a:schemeClr val="accent1">
                    <a:lumMod val="75000"/>
                  </a:schemeClr>
                </a:solidFill>
                <a:latin typeface="Bahamas" pitchFamily="2" charset="0"/>
              </a:rPr>
              <a:t>Thearo</a:t>
            </a:r>
            <a:endParaRPr lang="en-US" sz="2800" dirty="0" smtClean="0">
              <a:solidFill>
                <a:schemeClr val="accent1">
                  <a:lumMod val="75000"/>
                </a:schemeClr>
              </a:solidFill>
              <a:latin typeface="Bahamas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95400" y="5257800"/>
            <a:ext cx="350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Bahamas" pitchFamily="2" charset="0"/>
              </a:rPr>
              <a:t>Son </a:t>
            </a:r>
            <a:r>
              <a:rPr lang="en-US" sz="2800" dirty="0" err="1" smtClean="0">
                <a:solidFill>
                  <a:schemeClr val="accent1">
                    <a:lumMod val="75000"/>
                  </a:schemeClr>
                </a:solidFill>
                <a:latin typeface="Bahamas" pitchFamily="2" charset="0"/>
              </a:rPr>
              <a:t>Meas</a:t>
            </a:r>
            <a:endParaRPr lang="en-US" sz="2800" dirty="0" smtClean="0">
              <a:solidFill>
                <a:schemeClr val="accent1">
                  <a:lumMod val="75000"/>
                </a:schemeClr>
              </a:solidFill>
              <a:latin typeface="Bahamas" pitchFamily="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95400" y="4648200"/>
            <a:ext cx="350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 err="1" smtClean="0">
                <a:solidFill>
                  <a:schemeClr val="accent1">
                    <a:lumMod val="75000"/>
                  </a:schemeClr>
                </a:solidFill>
                <a:latin typeface="Bahamas" pitchFamily="2" charset="0"/>
              </a:rPr>
              <a:t>Sok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Bahamas" pitchFamily="2" charset="0"/>
              </a:rPr>
              <a:t> </a:t>
            </a:r>
            <a:r>
              <a:rPr lang="en-US" sz="2800" dirty="0" err="1" smtClean="0">
                <a:solidFill>
                  <a:schemeClr val="accent1">
                    <a:lumMod val="75000"/>
                  </a:schemeClr>
                </a:solidFill>
                <a:latin typeface="Bahamas" pitchFamily="2" charset="0"/>
              </a:rPr>
              <a:t>Hak</a:t>
            </a:r>
            <a:endParaRPr lang="en-US" sz="2800" dirty="0" smtClean="0">
              <a:solidFill>
                <a:schemeClr val="accent1">
                  <a:lumMod val="75000"/>
                </a:schemeClr>
              </a:solidFill>
              <a:latin typeface="Bahama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950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00"/>
                            </p:stCondLst>
                            <p:childTnLst>
                              <p:par>
                                <p:cTn id="1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8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3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8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3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8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3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8" grpId="0"/>
      <p:bldP spid="17" grpId="0"/>
      <p:bldP spid="18" grpId="0"/>
      <p:bldP spid="19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492875"/>
            <a:ext cx="381000" cy="365125"/>
          </a:xfrm>
        </p:spPr>
        <p:txBody>
          <a:bodyPr/>
          <a:lstStyle/>
          <a:p>
            <a:fld id="{344FD16A-E3FF-4CFC-B3EE-A6F7727BED3D}" type="slidenum">
              <a:rPr lang="en-US" sz="2000" smtClean="0">
                <a:solidFill>
                  <a:schemeClr val="bg1"/>
                </a:solidFill>
                <a:latin typeface="Duepuntozero" pitchFamily="2" charset="0"/>
              </a:rPr>
              <a:t>3</a:t>
            </a:fld>
            <a:endParaRPr lang="en-US" sz="2000" dirty="0">
              <a:solidFill>
                <a:schemeClr val="bg1"/>
              </a:solidFill>
              <a:latin typeface="Duepuntozero" pitchFamily="2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28600" y="15875"/>
            <a:ext cx="8642757" cy="6519626"/>
            <a:chOff x="228600" y="15875"/>
            <a:chExt cx="8642757" cy="6519626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600" y="15875"/>
              <a:ext cx="5219700" cy="1238250"/>
            </a:xfrm>
            <a:prstGeom prst="rect">
              <a:avLst/>
            </a:prstGeom>
          </p:spPr>
        </p:pic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000" y="1254125"/>
              <a:ext cx="8490357" cy="5281376"/>
            </a:xfrm>
            <a:prstGeom prst="rect">
              <a:avLst/>
            </a:prstGeom>
          </p:spPr>
        </p:pic>
      </p:grpSp>
      <p:sp>
        <p:nvSpPr>
          <p:cNvPr id="3" name="TextBox 2"/>
          <p:cNvSpPr txBox="1"/>
          <p:nvPr/>
        </p:nvSpPr>
        <p:spPr>
          <a:xfrm>
            <a:off x="7543800" y="209490"/>
            <a:ext cx="1181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Bahamas" pitchFamily="2" charset="0"/>
              </a:rPr>
              <a:t>Group</a:t>
            </a:r>
            <a:r>
              <a:rPr lang="en-US" dirty="0" smtClean="0">
                <a:solidFill>
                  <a:schemeClr val="bg1"/>
                </a:solidFill>
                <a:latin typeface="Bahamas" pitchFamily="2" charset="0"/>
              </a:rPr>
              <a:t> 10</a:t>
            </a:r>
            <a:endParaRPr lang="en-US" dirty="0">
              <a:solidFill>
                <a:schemeClr val="bg1"/>
              </a:solidFill>
              <a:latin typeface="Bahamas" pitchFamily="2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102" y="1600200"/>
            <a:ext cx="812698" cy="8126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460422" y="1828800"/>
            <a:ext cx="21877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Contents</a:t>
            </a:r>
            <a:endParaRPr lang="en-US" sz="3600" dirty="0"/>
          </a:p>
        </p:txBody>
      </p:sp>
      <p:sp>
        <p:nvSpPr>
          <p:cNvPr id="9" name="TextBox 8"/>
          <p:cNvSpPr txBox="1"/>
          <p:nvPr/>
        </p:nvSpPr>
        <p:spPr>
          <a:xfrm>
            <a:off x="1574698" y="2971800"/>
            <a:ext cx="2921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I.	Introduction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1524000" y="3505200"/>
            <a:ext cx="43689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II.	</a:t>
            </a:r>
            <a:r>
              <a:rPr lang="en-US" sz="2400" dirty="0"/>
              <a:t>Methodology of research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8498" y="4038600"/>
            <a:ext cx="36069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III.	</a:t>
            </a:r>
            <a:r>
              <a:rPr lang="en-US" sz="2400" dirty="0"/>
              <a:t>Database Design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4000" y="5257800"/>
            <a:ext cx="2921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V.	</a:t>
            </a:r>
            <a:r>
              <a:rPr lang="en-US" sz="2400" dirty="0"/>
              <a:t>Conclusion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61998" y="5786735"/>
            <a:ext cx="2921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VI.	Reference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524000" y="4648200"/>
            <a:ext cx="36069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IV.	Interface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95013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8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9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0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1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2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3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8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3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8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3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8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9" grpId="0"/>
      <p:bldP spid="10" grpId="0"/>
      <p:bldP spid="11" grpId="0"/>
      <p:bldP spid="13" grpId="0"/>
      <p:bldP spid="14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492875"/>
            <a:ext cx="381000" cy="365125"/>
          </a:xfrm>
        </p:spPr>
        <p:txBody>
          <a:bodyPr/>
          <a:lstStyle/>
          <a:p>
            <a:fld id="{344FD16A-E3FF-4CFC-B3EE-A6F7727BED3D}" type="slidenum">
              <a:rPr lang="en-US" sz="2000" smtClean="0">
                <a:solidFill>
                  <a:schemeClr val="bg1"/>
                </a:solidFill>
                <a:latin typeface="Duepuntozero" pitchFamily="2" charset="0"/>
              </a:rPr>
              <a:t>4</a:t>
            </a:fld>
            <a:endParaRPr lang="en-US" sz="2000" dirty="0">
              <a:solidFill>
                <a:schemeClr val="bg1"/>
              </a:solidFill>
              <a:latin typeface="Duepuntozero" pitchFamily="2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28600" y="15875"/>
            <a:ext cx="8642757" cy="6519626"/>
            <a:chOff x="228600" y="15875"/>
            <a:chExt cx="8642757" cy="6519626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600" y="15875"/>
              <a:ext cx="5219700" cy="1238250"/>
            </a:xfrm>
            <a:prstGeom prst="rect">
              <a:avLst/>
            </a:prstGeom>
          </p:spPr>
        </p:pic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000" y="1254125"/>
              <a:ext cx="8490357" cy="5281376"/>
            </a:xfrm>
            <a:prstGeom prst="rect">
              <a:avLst/>
            </a:prstGeom>
          </p:spPr>
        </p:pic>
      </p:grpSp>
      <p:sp>
        <p:nvSpPr>
          <p:cNvPr id="3" name="TextBox 2"/>
          <p:cNvSpPr txBox="1"/>
          <p:nvPr/>
        </p:nvSpPr>
        <p:spPr>
          <a:xfrm>
            <a:off x="7543800" y="209490"/>
            <a:ext cx="1181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Bahamas" pitchFamily="2" charset="0"/>
              </a:rPr>
              <a:t>Group</a:t>
            </a:r>
            <a:r>
              <a:rPr lang="en-US" dirty="0" smtClean="0">
                <a:solidFill>
                  <a:schemeClr val="bg1"/>
                </a:solidFill>
                <a:latin typeface="Bahamas" pitchFamily="2" charset="0"/>
              </a:rPr>
              <a:t> 10</a:t>
            </a:r>
            <a:endParaRPr lang="en-US" dirty="0">
              <a:solidFill>
                <a:schemeClr val="bg1"/>
              </a:solidFill>
              <a:latin typeface="Bahamas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7800" y="1505634"/>
            <a:ext cx="2987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I</a:t>
            </a:r>
            <a:r>
              <a:rPr lang="en-US" sz="3600" dirty="0" smtClean="0"/>
              <a:t>. </a:t>
            </a:r>
            <a:r>
              <a:rPr lang="en-US" sz="2800" dirty="0" smtClean="0"/>
              <a:t>Introduction</a:t>
            </a:r>
            <a:endParaRPr lang="en-US"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704850" y="2539931"/>
            <a:ext cx="7829550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ca-ES" dirty="0" smtClean="0">
                <a:latin typeface="Khmer OS" pitchFamily="2" charset="0"/>
                <a:cs typeface="Khmer OS" pitchFamily="2" charset="0"/>
              </a:rPr>
              <a:t>	សព្វ</a:t>
            </a:r>
            <a:r>
              <a:rPr lang="ca-ES" dirty="0">
                <a:latin typeface="Khmer OS" pitchFamily="2" charset="0"/>
                <a:cs typeface="Khmer OS" pitchFamily="2" charset="0"/>
              </a:rPr>
              <a:t>ថ្ងៃនេះយើងឃើញថា វិស័យបច្ចេកវិទ្យា កំពុងតែ​មានការរីកចម្រើន</a:t>
            </a:r>
            <a:r>
              <a:rPr lang="ca-ES" dirty="0" smtClean="0">
                <a:latin typeface="Khmer OS" pitchFamily="2" charset="0"/>
                <a:cs typeface="Khmer OS" pitchFamily="2" charset="0"/>
              </a:rPr>
              <a:t>ឥត ឈប់</a:t>
            </a:r>
            <a:r>
              <a:rPr lang="ca-ES" dirty="0">
                <a:latin typeface="Khmer OS" pitchFamily="2" charset="0"/>
                <a:cs typeface="Khmer OS" pitchFamily="2" charset="0"/>
              </a:rPr>
              <a:t>ឈរ ពី មួយ​ថ្ងៃទៅ​មួយថ្ងៃ ។ បណ្តាក្រុមហ៊ុន សហគ្រាសតូច ធំ អាជីវកម្ម អង្គការ និង ស្ថាប័ន​ផ្សេងៗ នៅ លើ​ពិភពលោក តែងតែផ្សាភ្ជាប់យ៉ាងជិតស្និតទៅនឹងវិស័យនេះ។</a:t>
            </a:r>
            <a:endParaRPr lang="en-US" dirty="0">
              <a:latin typeface="Khmer OS" pitchFamily="2" charset="0"/>
              <a:cs typeface="Khmer OS" pitchFamily="2" charset="0"/>
            </a:endParaRPr>
          </a:p>
          <a:p>
            <a:endParaRPr lang="en-US" dirty="0">
              <a:latin typeface="Khmer OS" pitchFamily="2" charset="0"/>
              <a:cs typeface="Khmer OS" pitchFamily="2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1295400"/>
            <a:ext cx="812698" cy="81269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57250" y="4368731"/>
            <a:ext cx="7829550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ca-ES" dirty="0" smtClean="0">
                <a:latin typeface="Khmer OS" pitchFamily="2" charset="0"/>
                <a:cs typeface="Khmer OS" pitchFamily="2" charset="0"/>
              </a:rPr>
              <a:t>	ដោយសារការយល់ឃើញ ពីការលំបាកក្នុងការគ្រប់គ្រង ការរក្សា​     ទិនន្នន័យរបស់អ្នកជំងឺ  និង ទិន្នន័យផ្សេងៗរបស់គ្លីនិកធ្មេញ ទើបក្រុមយើងខ្ញុំបានសំរេចចិត្តជ្រើសរើស គ្លីនិកធ្មេញ ប៉ាស្ទ័រ ដើម្បីធ្វើការចុះកម្មសិក្សា កសាងជាប្រព័ន្ធ </a:t>
            </a:r>
            <a:r>
              <a:rPr lang="en-US" dirty="0" smtClean="0">
                <a:latin typeface="Khmer OS" pitchFamily="2" charset="0"/>
                <a:cs typeface="Khmer OS" pitchFamily="2" charset="0"/>
              </a:rPr>
              <a:t>Database </a:t>
            </a:r>
            <a:r>
              <a:rPr lang="ca-ES" dirty="0" smtClean="0">
                <a:latin typeface="Khmer OS" pitchFamily="2" charset="0"/>
                <a:cs typeface="Khmer OS" pitchFamily="2" charset="0"/>
              </a:rPr>
              <a:t> ដែលមានលទ្ធភាពអាចគ្រប់គ្រងទៅលើគ្លីនិកទាំងមូល។</a:t>
            </a:r>
            <a:endParaRPr lang="en-US" dirty="0">
              <a:latin typeface="Khmer OS" pitchFamily="2" charset="0"/>
              <a:cs typeface="Khmer OS" pitchFamily="2" charset="0"/>
            </a:endParaRPr>
          </a:p>
          <a:p>
            <a:endParaRPr lang="en-US" dirty="0">
              <a:latin typeface="Khmer OS" pitchFamily="2" charset="0"/>
              <a:cs typeface="Khmer O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0333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00"/>
                            </p:stCondLst>
                            <p:childTnLst>
                              <p:par>
                                <p:cTn id="1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8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492875"/>
            <a:ext cx="381000" cy="365125"/>
          </a:xfrm>
        </p:spPr>
        <p:txBody>
          <a:bodyPr/>
          <a:lstStyle/>
          <a:p>
            <a:fld id="{344FD16A-E3FF-4CFC-B3EE-A6F7727BED3D}" type="slidenum">
              <a:rPr lang="en-US" sz="2000" smtClean="0">
                <a:solidFill>
                  <a:schemeClr val="bg1"/>
                </a:solidFill>
                <a:latin typeface="Duepuntozero" pitchFamily="2" charset="0"/>
              </a:rPr>
              <a:t>5</a:t>
            </a:fld>
            <a:endParaRPr lang="en-US" sz="2000" dirty="0">
              <a:solidFill>
                <a:schemeClr val="bg1"/>
              </a:solidFill>
              <a:latin typeface="Duepuntozero" pitchFamily="2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28600" y="15875"/>
            <a:ext cx="8642757" cy="6519626"/>
            <a:chOff x="228600" y="15875"/>
            <a:chExt cx="8642757" cy="6519626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600" y="15875"/>
              <a:ext cx="5219700" cy="1238250"/>
            </a:xfrm>
            <a:prstGeom prst="rect">
              <a:avLst/>
            </a:prstGeom>
          </p:spPr>
        </p:pic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000" y="1254125"/>
              <a:ext cx="8490357" cy="5281376"/>
            </a:xfrm>
            <a:prstGeom prst="rect">
              <a:avLst/>
            </a:prstGeom>
          </p:spPr>
        </p:pic>
      </p:grpSp>
      <p:sp>
        <p:nvSpPr>
          <p:cNvPr id="3" name="TextBox 2"/>
          <p:cNvSpPr txBox="1"/>
          <p:nvPr/>
        </p:nvSpPr>
        <p:spPr>
          <a:xfrm>
            <a:off x="7543800" y="209490"/>
            <a:ext cx="1181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Bahamas" pitchFamily="2" charset="0"/>
              </a:rPr>
              <a:t>Group</a:t>
            </a:r>
            <a:r>
              <a:rPr lang="en-US" dirty="0" smtClean="0">
                <a:solidFill>
                  <a:schemeClr val="bg1"/>
                </a:solidFill>
                <a:latin typeface="Bahamas" pitchFamily="2" charset="0"/>
              </a:rPr>
              <a:t> 10</a:t>
            </a:r>
            <a:endParaRPr lang="en-US" dirty="0">
              <a:solidFill>
                <a:schemeClr val="bg1"/>
              </a:solidFill>
              <a:latin typeface="Bahamas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7800" y="1505634"/>
            <a:ext cx="472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</a:t>
            </a:r>
            <a:r>
              <a:rPr lang="en-US" sz="3600" dirty="0" smtClean="0"/>
              <a:t>. </a:t>
            </a:r>
            <a:r>
              <a:rPr lang="en-US" sz="2800" dirty="0" smtClean="0"/>
              <a:t>Introduction Continue</a:t>
            </a:r>
            <a:endParaRPr lang="en-US" sz="2800" dirty="0"/>
          </a:p>
        </p:txBody>
      </p:sp>
      <p:sp>
        <p:nvSpPr>
          <p:cNvPr id="15" name="TextBox 14"/>
          <p:cNvSpPr txBox="1"/>
          <p:nvPr/>
        </p:nvSpPr>
        <p:spPr>
          <a:xfrm>
            <a:off x="857250" y="3340031"/>
            <a:ext cx="7829550" cy="2323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ca-ES" dirty="0" smtClean="0">
                <a:latin typeface="Khmer OS" pitchFamily="2" charset="0"/>
                <a:cs typeface="Khmer OS" pitchFamily="2" charset="0"/>
              </a:rPr>
              <a:t>	</a:t>
            </a:r>
            <a:r>
              <a:rPr lang="km-KH" dirty="0">
                <a:latin typeface="Khmer OS" pitchFamily="2" charset="0"/>
                <a:cs typeface="Khmer OS" pitchFamily="2" charset="0"/>
              </a:rPr>
              <a:t>គ្លីនិកធ្មេញ ប៉ាស្ទ័រ ត្រូវបានបង្កើតឡើងនៅក្នុងឆ្នាំ ២០០៧ ដោយ</a:t>
            </a:r>
            <a:r>
              <a:rPr lang="km-KH" dirty="0" smtClean="0">
                <a:latin typeface="Khmer OS" pitchFamily="2" charset="0"/>
                <a:cs typeface="Khmer OS" pitchFamily="2" charset="0"/>
              </a:rPr>
              <a:t>ទន្តពេទ្យបី</a:t>
            </a:r>
            <a:r>
              <a:rPr lang="km-KH" dirty="0">
                <a:latin typeface="Khmer OS" pitchFamily="2" charset="0"/>
                <a:cs typeface="Khmer OS" pitchFamily="2" charset="0"/>
              </a:rPr>
              <a:t>រូបគឺ </a:t>
            </a:r>
            <a:r>
              <a:rPr lang="km-KH" dirty="0" smtClean="0">
                <a:latin typeface="Khmer OS" pitchFamily="2" charset="0"/>
                <a:cs typeface="Khmer OS" pitchFamily="2" charset="0"/>
              </a:rPr>
              <a:t>ទន្តពេទ្យ </a:t>
            </a:r>
            <a:r>
              <a:rPr lang="km-KH" dirty="0">
                <a:latin typeface="Khmer OS" pitchFamily="2" charset="0"/>
                <a:cs typeface="Khmer OS" pitchFamily="2" charset="0"/>
              </a:rPr>
              <a:t>សំ លក្ខ</a:t>
            </a:r>
            <a:r>
              <a:rPr lang="km-KH" dirty="0" smtClean="0">
                <a:latin typeface="Khmer OS" pitchFamily="2" charset="0"/>
                <a:cs typeface="Khmer OS" pitchFamily="2" charset="0"/>
              </a:rPr>
              <a:t>ណះ, </a:t>
            </a:r>
            <a:r>
              <a:rPr lang="km-KH" dirty="0">
                <a:latin typeface="Khmer OS" pitchFamily="2" charset="0"/>
                <a:cs typeface="Khmer OS" pitchFamily="2" charset="0"/>
              </a:rPr>
              <a:t>អៀង ពិសិដ្ធ និង ម៉ុម ចិត្រា។ គ្</a:t>
            </a:r>
            <a:r>
              <a:rPr lang="km-KH" dirty="0" smtClean="0">
                <a:latin typeface="Khmer OS" pitchFamily="2" charset="0"/>
                <a:cs typeface="Khmer OS" pitchFamily="2" charset="0"/>
              </a:rPr>
              <a:t>លីនិក</a:t>
            </a:r>
            <a:r>
              <a:rPr lang="ca-ES" dirty="0" smtClean="0">
                <a:latin typeface="Khmer OS" pitchFamily="2" charset="0"/>
                <a:cs typeface="Khmer OS" pitchFamily="2" charset="0"/>
              </a:rPr>
              <a:t>ធ្មេញ</a:t>
            </a:r>
            <a:r>
              <a:rPr lang="km-KH" dirty="0" smtClean="0">
                <a:latin typeface="Khmer OS" pitchFamily="2" charset="0"/>
                <a:cs typeface="Khmer OS" pitchFamily="2" charset="0"/>
              </a:rPr>
              <a:t>ប៉ា</a:t>
            </a:r>
            <a:r>
              <a:rPr lang="km-KH" dirty="0">
                <a:latin typeface="Khmer OS" pitchFamily="2" charset="0"/>
                <a:cs typeface="Khmer OS" pitchFamily="2" charset="0"/>
              </a:rPr>
              <a:t>ស្ទ័រ មានសេវាកម្មបំរើដល់ប្រជាជនយើង មានដូចជា ដកធេ្មញ ព្យាបាលធេ្មញ ប៉ះធេ្មញ ដាក់ធេ្មញ និង ដាំពេជ្រជាដើម។ </a:t>
            </a:r>
            <a:endParaRPr lang="ca-ES" dirty="0" smtClean="0">
              <a:latin typeface="Khmer OS" pitchFamily="2" charset="0"/>
              <a:cs typeface="Khmer OS" pitchFamily="2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ca-ES" dirty="0" smtClean="0">
                <a:latin typeface="Khmer OS" pitchFamily="2" charset="0"/>
                <a:cs typeface="Khmer OS" pitchFamily="2" charset="0"/>
              </a:rPr>
              <a:t>ទំនាក់ទំនងតាម </a:t>
            </a:r>
            <a:r>
              <a:rPr lang="en-US" dirty="0" smtClean="0">
                <a:latin typeface="Khmer OS" pitchFamily="2" charset="0"/>
                <a:cs typeface="Khmer OS" pitchFamily="2" charset="0"/>
              </a:rPr>
              <a:t>: </a:t>
            </a:r>
            <a:r>
              <a:rPr lang="km-KH" dirty="0">
                <a:latin typeface="Khmer OS" pitchFamily="2" charset="0"/>
                <a:cs typeface="Khmer OS" pitchFamily="2" charset="0"/>
              </a:rPr>
              <a:t>(៨៥៥) ២៣ ៨៨ ០៨ ៧៧ ឬ (៨៥៥) ១៧ ៥៥ ៩៤ ៥៥។</a:t>
            </a:r>
            <a:endParaRPr lang="en-US" dirty="0">
              <a:latin typeface="Khmer OS" pitchFamily="2" charset="0"/>
              <a:cs typeface="Khmer OS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47800" y="2510135"/>
            <a:ext cx="518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</a:t>
            </a:r>
            <a:r>
              <a:rPr lang="en-US" sz="2400" dirty="0" smtClean="0"/>
              <a:t>Background of </a:t>
            </a:r>
            <a:r>
              <a:rPr lang="en-US" sz="2400" dirty="0" err="1" smtClean="0"/>
              <a:t>Pastuer</a:t>
            </a:r>
            <a:r>
              <a:rPr lang="en-US" sz="2400" dirty="0" smtClean="0"/>
              <a:t> Dental Clinic</a:t>
            </a:r>
            <a:endParaRPr lang="en-US" sz="24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76" y="2436205"/>
            <a:ext cx="609524" cy="60952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649" y="1320902"/>
            <a:ext cx="812698" cy="81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968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00"/>
                            </p:stCondLst>
                            <p:childTnLst>
                              <p:par>
                                <p:cTn id="1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8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3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8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5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492875"/>
            <a:ext cx="381000" cy="365125"/>
          </a:xfrm>
        </p:spPr>
        <p:txBody>
          <a:bodyPr/>
          <a:lstStyle/>
          <a:p>
            <a:fld id="{344FD16A-E3FF-4CFC-B3EE-A6F7727BED3D}" type="slidenum">
              <a:rPr lang="en-US" sz="2000" smtClean="0">
                <a:solidFill>
                  <a:schemeClr val="bg1"/>
                </a:solidFill>
                <a:latin typeface="Duepuntozero" pitchFamily="2" charset="0"/>
              </a:rPr>
              <a:t>6</a:t>
            </a:fld>
            <a:endParaRPr lang="en-US" sz="2000" dirty="0">
              <a:solidFill>
                <a:schemeClr val="bg1"/>
              </a:solidFill>
              <a:latin typeface="Duepuntozero" pitchFamily="2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28600" y="15875"/>
            <a:ext cx="8642757" cy="6519626"/>
            <a:chOff x="228600" y="15875"/>
            <a:chExt cx="8642757" cy="6519626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600" y="15875"/>
              <a:ext cx="5219700" cy="1238250"/>
            </a:xfrm>
            <a:prstGeom prst="rect">
              <a:avLst/>
            </a:prstGeom>
          </p:spPr>
        </p:pic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000" y="1254125"/>
              <a:ext cx="8490357" cy="5281376"/>
            </a:xfrm>
            <a:prstGeom prst="rect">
              <a:avLst/>
            </a:prstGeom>
          </p:spPr>
        </p:pic>
      </p:grpSp>
      <p:sp>
        <p:nvSpPr>
          <p:cNvPr id="3" name="TextBox 2"/>
          <p:cNvSpPr txBox="1"/>
          <p:nvPr/>
        </p:nvSpPr>
        <p:spPr>
          <a:xfrm>
            <a:off x="7543800" y="209490"/>
            <a:ext cx="1181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Bahamas" pitchFamily="2" charset="0"/>
              </a:rPr>
              <a:t>Group</a:t>
            </a:r>
            <a:r>
              <a:rPr lang="en-US" dirty="0" smtClean="0">
                <a:solidFill>
                  <a:schemeClr val="bg1"/>
                </a:solidFill>
                <a:latin typeface="Bahamas" pitchFamily="2" charset="0"/>
              </a:rPr>
              <a:t> 10</a:t>
            </a:r>
            <a:endParaRPr lang="en-US" dirty="0">
              <a:solidFill>
                <a:schemeClr val="bg1"/>
              </a:solidFill>
              <a:latin typeface="Bahamas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7800" y="1371600"/>
            <a:ext cx="472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</a:t>
            </a:r>
            <a:r>
              <a:rPr lang="en-US" sz="3600" dirty="0" smtClean="0"/>
              <a:t>. </a:t>
            </a:r>
            <a:r>
              <a:rPr lang="en-US" sz="2800" dirty="0" smtClean="0"/>
              <a:t>Introduction Continue</a:t>
            </a:r>
            <a:endParaRPr lang="en-US" sz="2800" dirty="0"/>
          </a:p>
        </p:txBody>
      </p:sp>
      <p:sp>
        <p:nvSpPr>
          <p:cNvPr id="15" name="TextBox 14"/>
          <p:cNvSpPr txBox="1"/>
          <p:nvPr/>
        </p:nvSpPr>
        <p:spPr>
          <a:xfrm>
            <a:off x="1562100" y="2667000"/>
            <a:ext cx="727710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km-KH" dirty="0" smtClean="0">
                <a:latin typeface="Khmer OS" pitchFamily="2" charset="0"/>
                <a:cs typeface="Khmer OS" pitchFamily="2" charset="0"/>
              </a:rPr>
              <a:t>-</a:t>
            </a:r>
            <a:r>
              <a:rPr lang="en-US" dirty="0" smtClean="0">
                <a:latin typeface="Khmer OS" pitchFamily="2" charset="0"/>
                <a:cs typeface="Khmer OS" pitchFamily="2" charset="0"/>
              </a:rPr>
              <a:t>  </a:t>
            </a:r>
            <a:r>
              <a:rPr lang="km-KH" dirty="0" smtClean="0">
                <a:latin typeface="Khmer OS" pitchFamily="2" charset="0"/>
                <a:cs typeface="Khmer OS" pitchFamily="2" charset="0"/>
              </a:rPr>
              <a:t>ពិបាក</a:t>
            </a:r>
            <a:r>
              <a:rPr lang="km-KH" dirty="0">
                <a:latin typeface="Khmer OS" pitchFamily="2" charset="0"/>
                <a:cs typeface="Khmer OS" pitchFamily="2" charset="0"/>
              </a:rPr>
              <a:t>ក្នុងការរក្សាទុកទិន្នន័យរបស់អ្នកជំងឺ និង ទន្តពេទ្យ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km-KH" dirty="0" smtClean="0">
                <a:latin typeface="Khmer OS" pitchFamily="2" charset="0"/>
                <a:cs typeface="Khmer OS" pitchFamily="2" charset="0"/>
              </a:rPr>
              <a:t>-</a:t>
            </a:r>
            <a:r>
              <a:rPr lang="en-US" dirty="0" smtClean="0">
                <a:latin typeface="Khmer OS" pitchFamily="2" charset="0"/>
                <a:cs typeface="Khmer OS" pitchFamily="2" charset="0"/>
              </a:rPr>
              <a:t>  </a:t>
            </a:r>
            <a:r>
              <a:rPr lang="km-KH" dirty="0" smtClean="0">
                <a:latin typeface="Khmer OS" pitchFamily="2" charset="0"/>
                <a:cs typeface="Khmer OS" pitchFamily="2" charset="0"/>
              </a:rPr>
              <a:t>ពិបាក</a:t>
            </a:r>
            <a:r>
              <a:rPr lang="km-KH" dirty="0">
                <a:latin typeface="Khmer OS" pitchFamily="2" charset="0"/>
                <a:cs typeface="Khmer OS" pitchFamily="2" charset="0"/>
              </a:rPr>
              <a:t>ក្នុងការស្វែងរកពត៌មានរបស់អ្នកជំងឺ និង ទន្តពេទ្យ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km-KH" dirty="0" smtClean="0">
                <a:latin typeface="Khmer OS" pitchFamily="2" charset="0"/>
                <a:cs typeface="Khmer OS" pitchFamily="2" charset="0"/>
              </a:rPr>
              <a:t>-</a:t>
            </a:r>
            <a:r>
              <a:rPr lang="en-US" dirty="0" smtClean="0">
                <a:latin typeface="Khmer OS" pitchFamily="2" charset="0"/>
                <a:cs typeface="Khmer OS" pitchFamily="2" charset="0"/>
              </a:rPr>
              <a:t>  </a:t>
            </a:r>
            <a:r>
              <a:rPr lang="km-KH" dirty="0" smtClean="0">
                <a:latin typeface="Khmer OS" pitchFamily="2" charset="0"/>
                <a:cs typeface="Khmer OS" pitchFamily="2" charset="0"/>
              </a:rPr>
              <a:t>ការ</a:t>
            </a:r>
            <a:r>
              <a:rPr lang="km-KH" dirty="0">
                <a:latin typeface="Khmer OS" pitchFamily="2" charset="0"/>
                <a:cs typeface="Khmer OS" pitchFamily="2" charset="0"/>
              </a:rPr>
              <a:t>រក្សាទុនទិន្នន័យមិនសូវមានសុវត្ថិភាព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km-KH" dirty="0" smtClean="0">
                <a:latin typeface="Khmer OS" pitchFamily="2" charset="0"/>
                <a:cs typeface="Khmer OS" pitchFamily="2" charset="0"/>
              </a:rPr>
              <a:t>-</a:t>
            </a:r>
            <a:r>
              <a:rPr lang="en-US" dirty="0" smtClean="0">
                <a:latin typeface="Khmer OS" pitchFamily="2" charset="0"/>
                <a:cs typeface="Khmer OS" pitchFamily="2" charset="0"/>
              </a:rPr>
              <a:t>  </a:t>
            </a:r>
            <a:r>
              <a:rPr lang="km-KH" dirty="0" smtClean="0">
                <a:latin typeface="Khmer OS" pitchFamily="2" charset="0"/>
                <a:cs typeface="Khmer OS" pitchFamily="2" charset="0"/>
              </a:rPr>
              <a:t>មិន</a:t>
            </a:r>
            <a:r>
              <a:rPr lang="km-KH" dirty="0">
                <a:latin typeface="Khmer OS" pitchFamily="2" charset="0"/>
                <a:cs typeface="Khmer OS" pitchFamily="2" charset="0"/>
              </a:rPr>
              <a:t>មានការធ្វើ </a:t>
            </a:r>
            <a:r>
              <a:rPr lang="en-US" dirty="0">
                <a:latin typeface="Khmer OS" pitchFamily="2" charset="0"/>
                <a:cs typeface="Khmer OS" pitchFamily="2" charset="0"/>
              </a:rPr>
              <a:t>Report </a:t>
            </a:r>
            <a:r>
              <a:rPr lang="km-KH" dirty="0">
                <a:latin typeface="Khmer OS" pitchFamily="2" charset="0"/>
                <a:cs typeface="Khmer OS" pitchFamily="2" charset="0"/>
              </a:rPr>
              <a:t>នៃប្រាក់ចំណូលប្រចាំខែរបស់គ្លីនិក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km-KH" dirty="0" smtClean="0">
                <a:latin typeface="Khmer OS" pitchFamily="2" charset="0"/>
                <a:cs typeface="Khmer OS" pitchFamily="2" charset="0"/>
              </a:rPr>
              <a:t>-</a:t>
            </a:r>
            <a:r>
              <a:rPr lang="en-US" dirty="0" smtClean="0">
                <a:latin typeface="Khmer OS" pitchFamily="2" charset="0"/>
                <a:cs typeface="Khmer OS" pitchFamily="2" charset="0"/>
              </a:rPr>
              <a:t>  </a:t>
            </a:r>
            <a:r>
              <a:rPr lang="km-KH" dirty="0" smtClean="0">
                <a:latin typeface="Khmer OS" pitchFamily="2" charset="0"/>
                <a:cs typeface="Khmer OS" pitchFamily="2" charset="0"/>
              </a:rPr>
              <a:t>មាន</a:t>
            </a:r>
            <a:r>
              <a:rPr lang="km-KH" dirty="0">
                <a:latin typeface="Khmer OS" pitchFamily="2" charset="0"/>
                <a:cs typeface="Khmer OS" pitchFamily="2" charset="0"/>
              </a:rPr>
              <a:t>ភាពយឺតយ៉ាវ និង កំហុសឆ្គង ក្នុងការចេញ វិក័យប័ត្រឲ្យអ្នកជំងឺ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km-KH" dirty="0" smtClean="0">
                <a:latin typeface="Khmer OS" pitchFamily="2" charset="0"/>
                <a:cs typeface="Khmer OS" pitchFamily="2" charset="0"/>
              </a:rPr>
              <a:t>-</a:t>
            </a:r>
            <a:r>
              <a:rPr lang="en-US" dirty="0" smtClean="0">
                <a:latin typeface="Khmer OS" pitchFamily="2" charset="0"/>
                <a:cs typeface="Khmer OS" pitchFamily="2" charset="0"/>
              </a:rPr>
              <a:t>  </a:t>
            </a:r>
            <a:r>
              <a:rPr lang="km-KH" dirty="0" smtClean="0">
                <a:latin typeface="Khmer OS" pitchFamily="2" charset="0"/>
                <a:cs typeface="Khmer OS" pitchFamily="2" charset="0"/>
              </a:rPr>
              <a:t>ពិបាក</a:t>
            </a:r>
            <a:r>
              <a:rPr lang="km-KH" dirty="0">
                <a:latin typeface="Khmer OS" pitchFamily="2" charset="0"/>
                <a:cs typeface="Khmer OS" pitchFamily="2" charset="0"/>
              </a:rPr>
              <a:t>ក្នុងការកំណត់ពេលវេលាដើម្បីជួបនឹងអ្នកជំងឺ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km-KH" dirty="0" smtClean="0">
                <a:latin typeface="Khmer OS" pitchFamily="2" charset="0"/>
                <a:cs typeface="Khmer OS" pitchFamily="2" charset="0"/>
              </a:rPr>
              <a:t>-</a:t>
            </a:r>
            <a:r>
              <a:rPr lang="en-US" dirty="0" smtClean="0">
                <a:latin typeface="Khmer OS" pitchFamily="2" charset="0"/>
                <a:cs typeface="Khmer OS" pitchFamily="2" charset="0"/>
              </a:rPr>
              <a:t>  </a:t>
            </a:r>
            <a:r>
              <a:rPr lang="km-KH" dirty="0" smtClean="0">
                <a:latin typeface="Khmer OS" pitchFamily="2" charset="0"/>
                <a:cs typeface="Khmer OS" pitchFamily="2" charset="0"/>
              </a:rPr>
              <a:t>ពិបាក</a:t>
            </a:r>
            <a:r>
              <a:rPr lang="km-KH" dirty="0">
                <a:latin typeface="Khmer OS" pitchFamily="2" charset="0"/>
                <a:cs typeface="Khmer OS" pitchFamily="2" charset="0"/>
              </a:rPr>
              <a:t>ក្នុងការគ្រប់គ្រងទៅលើ បុគ្គលិក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km-KH" dirty="0" smtClean="0">
                <a:latin typeface="Khmer OS" pitchFamily="2" charset="0"/>
                <a:cs typeface="Khmer OS" pitchFamily="2" charset="0"/>
              </a:rPr>
              <a:t>-</a:t>
            </a:r>
            <a:r>
              <a:rPr lang="en-US" dirty="0" smtClean="0">
                <a:latin typeface="Khmer OS" pitchFamily="2" charset="0"/>
                <a:cs typeface="Khmer OS" pitchFamily="2" charset="0"/>
              </a:rPr>
              <a:t>  </a:t>
            </a:r>
            <a:r>
              <a:rPr lang="km-KH" dirty="0" smtClean="0">
                <a:latin typeface="Khmer OS" pitchFamily="2" charset="0"/>
                <a:cs typeface="Khmer OS" pitchFamily="2" charset="0"/>
              </a:rPr>
              <a:t>ពិបាក</a:t>
            </a:r>
            <a:r>
              <a:rPr lang="km-KH" dirty="0">
                <a:latin typeface="Khmer OS" pitchFamily="2" charset="0"/>
                <a:cs typeface="Khmer OS" pitchFamily="2" charset="0"/>
              </a:rPr>
              <a:t>ក្នុងការគ្រប់គ្រងប្រាក់ខែរបស់ បុគ្គលិក និង ទន្តពេទ្យ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km-KH" dirty="0" smtClean="0">
                <a:latin typeface="Khmer OS" pitchFamily="2" charset="0"/>
                <a:cs typeface="Khmer OS" pitchFamily="2" charset="0"/>
              </a:rPr>
              <a:t>-</a:t>
            </a:r>
            <a:r>
              <a:rPr lang="en-US" dirty="0" smtClean="0">
                <a:latin typeface="Khmer OS" pitchFamily="2" charset="0"/>
                <a:cs typeface="Khmer OS" pitchFamily="2" charset="0"/>
              </a:rPr>
              <a:t>  </a:t>
            </a:r>
            <a:r>
              <a:rPr lang="km-KH" dirty="0" smtClean="0">
                <a:latin typeface="Khmer OS" pitchFamily="2" charset="0"/>
                <a:cs typeface="Khmer OS" pitchFamily="2" charset="0"/>
              </a:rPr>
              <a:t>ពិបាក</a:t>
            </a:r>
            <a:r>
              <a:rPr lang="km-KH" dirty="0">
                <a:latin typeface="Khmer OS" pitchFamily="2" charset="0"/>
                <a:cs typeface="Khmer OS" pitchFamily="2" charset="0"/>
              </a:rPr>
              <a:t>ក្នុងការគ្រប់គ្រងទៅថ្នាំ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7800" y="2133600"/>
            <a:ext cx="518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</a:t>
            </a:r>
            <a:r>
              <a:rPr lang="en-US" sz="2400" dirty="0" smtClean="0"/>
              <a:t>Problem Statements</a:t>
            </a:r>
            <a:endParaRPr lang="en-US" sz="24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76" y="2057400"/>
            <a:ext cx="609524" cy="60952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649" y="1320902"/>
            <a:ext cx="812698" cy="81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744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3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1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2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5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5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492875"/>
            <a:ext cx="381000" cy="365125"/>
          </a:xfrm>
        </p:spPr>
        <p:txBody>
          <a:bodyPr/>
          <a:lstStyle/>
          <a:p>
            <a:fld id="{344FD16A-E3FF-4CFC-B3EE-A6F7727BED3D}" type="slidenum">
              <a:rPr lang="en-US" sz="2000" smtClean="0">
                <a:solidFill>
                  <a:schemeClr val="bg1"/>
                </a:solidFill>
                <a:latin typeface="Duepuntozero" pitchFamily="2" charset="0"/>
              </a:rPr>
              <a:t>7</a:t>
            </a:fld>
            <a:endParaRPr lang="en-US" sz="2000" dirty="0">
              <a:solidFill>
                <a:schemeClr val="bg1"/>
              </a:solidFill>
              <a:latin typeface="Duepuntozero" pitchFamily="2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28600" y="15875"/>
            <a:ext cx="8642757" cy="6519626"/>
            <a:chOff x="228600" y="15875"/>
            <a:chExt cx="8642757" cy="6519626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600" y="15875"/>
              <a:ext cx="5219700" cy="1238250"/>
            </a:xfrm>
            <a:prstGeom prst="rect">
              <a:avLst/>
            </a:prstGeom>
          </p:spPr>
        </p:pic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000" y="1254125"/>
              <a:ext cx="8490357" cy="5281376"/>
            </a:xfrm>
            <a:prstGeom prst="rect">
              <a:avLst/>
            </a:prstGeom>
          </p:spPr>
        </p:pic>
      </p:grpSp>
      <p:sp>
        <p:nvSpPr>
          <p:cNvPr id="3" name="TextBox 2"/>
          <p:cNvSpPr txBox="1"/>
          <p:nvPr/>
        </p:nvSpPr>
        <p:spPr>
          <a:xfrm>
            <a:off x="7543800" y="209490"/>
            <a:ext cx="1181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Bahamas" pitchFamily="2" charset="0"/>
              </a:rPr>
              <a:t>Group</a:t>
            </a:r>
            <a:r>
              <a:rPr lang="en-US" dirty="0" smtClean="0">
                <a:solidFill>
                  <a:schemeClr val="bg1"/>
                </a:solidFill>
                <a:latin typeface="Bahamas" pitchFamily="2" charset="0"/>
              </a:rPr>
              <a:t> 10</a:t>
            </a:r>
            <a:endParaRPr lang="en-US" dirty="0">
              <a:solidFill>
                <a:schemeClr val="bg1"/>
              </a:solidFill>
              <a:latin typeface="Bahamas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7800" y="1371600"/>
            <a:ext cx="472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</a:t>
            </a:r>
            <a:r>
              <a:rPr lang="en-US" sz="3600" dirty="0" smtClean="0"/>
              <a:t>. </a:t>
            </a:r>
            <a:r>
              <a:rPr lang="en-US" sz="2800" dirty="0" smtClean="0"/>
              <a:t>Introduction Continue</a:t>
            </a:r>
            <a:endParaRPr lang="en-US" sz="2800" dirty="0"/>
          </a:p>
        </p:txBody>
      </p:sp>
      <p:sp>
        <p:nvSpPr>
          <p:cNvPr id="15" name="TextBox 14"/>
          <p:cNvSpPr txBox="1"/>
          <p:nvPr/>
        </p:nvSpPr>
        <p:spPr>
          <a:xfrm>
            <a:off x="1562100" y="2743200"/>
            <a:ext cx="7277100" cy="3320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km-KH" dirty="0" smtClean="0">
                <a:latin typeface="Khmer OS" pitchFamily="2" charset="0"/>
                <a:cs typeface="Khmer OS" pitchFamily="2" charset="0"/>
              </a:rPr>
              <a:t>-ងាយ</a:t>
            </a:r>
            <a:r>
              <a:rPr lang="km-KH" dirty="0">
                <a:latin typeface="Khmer OS" pitchFamily="2" charset="0"/>
                <a:cs typeface="Khmer OS" pitchFamily="2" charset="0"/>
              </a:rPr>
              <a:t>ស្រួលក្នុងការបញ្ចូល និង រក្សាទុក ពត៌មានផ្សេ</a:t>
            </a:r>
            <a:r>
              <a:rPr lang="km-KH" dirty="0" smtClean="0">
                <a:latin typeface="Khmer OS" pitchFamily="2" charset="0"/>
                <a:cs typeface="Khmer OS" pitchFamily="2" charset="0"/>
              </a:rPr>
              <a:t>ងៗ</a:t>
            </a:r>
            <a:endParaRPr lang="en-US" dirty="0" smtClean="0">
              <a:latin typeface="Khmer OS" pitchFamily="2" charset="0"/>
              <a:cs typeface="Khmer OS" pitchFamily="2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km-KH" dirty="0" smtClean="0">
                <a:latin typeface="Khmer OS" pitchFamily="2" charset="0"/>
                <a:cs typeface="Khmer OS" pitchFamily="2" charset="0"/>
              </a:rPr>
              <a:t>-</a:t>
            </a:r>
            <a:r>
              <a:rPr lang="ca-ES" dirty="0" smtClean="0">
                <a:latin typeface="Khmer OS" pitchFamily="2" charset="0"/>
                <a:cs typeface="Khmer OS" pitchFamily="2" charset="0"/>
              </a:rPr>
              <a:t>ងាយស្រួលស្វែងរកពត៌មានផ្សេងៗ និង រហ័សទាន់ចិត្ត</a:t>
            </a:r>
            <a:endParaRPr lang="km-KH" dirty="0">
              <a:latin typeface="Khmer OS" pitchFamily="2" charset="0"/>
              <a:cs typeface="Khmer OS" pitchFamily="2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km-KH" dirty="0" smtClean="0">
                <a:latin typeface="Khmer OS" pitchFamily="2" charset="0"/>
                <a:cs typeface="Khmer OS" pitchFamily="2" charset="0"/>
              </a:rPr>
              <a:t>-ទិន្នន័យមាន</a:t>
            </a:r>
            <a:r>
              <a:rPr lang="km-KH" dirty="0">
                <a:latin typeface="Khmer OS" pitchFamily="2" charset="0"/>
                <a:cs typeface="Khmer OS" pitchFamily="2" charset="0"/>
              </a:rPr>
              <a:t>សុវត្ថិភាពខ្ពស់ </a:t>
            </a:r>
            <a:endParaRPr lang="ca-ES" dirty="0" smtClean="0">
              <a:latin typeface="Khmer OS" pitchFamily="2" charset="0"/>
              <a:cs typeface="Khmer OS" pitchFamily="2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km-KH" dirty="0" smtClean="0">
                <a:latin typeface="Khmer OS" pitchFamily="2" charset="0"/>
                <a:cs typeface="Khmer OS" pitchFamily="2" charset="0"/>
              </a:rPr>
              <a:t>-ធ្វើ </a:t>
            </a:r>
            <a:r>
              <a:rPr lang="en-US" dirty="0">
                <a:latin typeface="Khmer OS" pitchFamily="2" charset="0"/>
                <a:cs typeface="Khmer OS" pitchFamily="2" charset="0"/>
              </a:rPr>
              <a:t>Report </a:t>
            </a:r>
            <a:r>
              <a:rPr lang="km-KH" dirty="0">
                <a:latin typeface="Khmer OS" pitchFamily="2" charset="0"/>
                <a:cs typeface="Khmer OS" pitchFamily="2" charset="0"/>
              </a:rPr>
              <a:t>ផ្សេងៗ ដូចជា ប្រាក់ចំណូប្រចាំខែ ឬ </a:t>
            </a:r>
            <a:r>
              <a:rPr lang="km-KH" dirty="0" smtClean="0">
                <a:latin typeface="Khmer OS" pitchFamily="2" charset="0"/>
                <a:cs typeface="Khmer OS" pitchFamily="2" charset="0"/>
              </a:rPr>
              <a:t>ប្រចាំ</a:t>
            </a:r>
            <a:endParaRPr lang="ca-ES" dirty="0" smtClean="0">
              <a:latin typeface="Khmer OS" pitchFamily="2" charset="0"/>
              <a:cs typeface="Khmer OS" pitchFamily="2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km-KH" dirty="0" smtClean="0">
                <a:latin typeface="Khmer OS" pitchFamily="2" charset="0"/>
                <a:cs typeface="Khmer OS" pitchFamily="2" charset="0"/>
              </a:rPr>
              <a:t>-ចេញ</a:t>
            </a:r>
            <a:r>
              <a:rPr lang="km-KH" dirty="0">
                <a:latin typeface="Khmer OS" pitchFamily="2" charset="0"/>
                <a:cs typeface="Khmer OS" pitchFamily="2" charset="0"/>
              </a:rPr>
              <a:t>វិក័យប័ត្រដល់អ្នកជំងឺដោយប្រព័ន្ធកុំព្យូទ័រ </a:t>
            </a:r>
            <a:r>
              <a:rPr lang="ca-ES" dirty="0" smtClean="0">
                <a:latin typeface="Khmer OS" pitchFamily="2" charset="0"/>
                <a:cs typeface="Khmer OS" pitchFamily="2" charset="0"/>
              </a:rPr>
              <a:t>មិនមានការភ័នច្រលំ</a:t>
            </a:r>
            <a:endParaRPr lang="km-KH" dirty="0">
              <a:latin typeface="Khmer OS" pitchFamily="2" charset="0"/>
              <a:cs typeface="Khmer OS" pitchFamily="2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km-KH" dirty="0" smtClean="0">
                <a:latin typeface="Khmer OS" pitchFamily="2" charset="0"/>
                <a:cs typeface="Khmer OS" pitchFamily="2" charset="0"/>
              </a:rPr>
              <a:t>-ងាយ</a:t>
            </a:r>
            <a:r>
              <a:rPr lang="km-KH" dirty="0">
                <a:latin typeface="Khmer OS" pitchFamily="2" charset="0"/>
                <a:cs typeface="Khmer OS" pitchFamily="2" charset="0"/>
              </a:rPr>
              <a:t>ស្រួលក្នុងកំណត់</a:t>
            </a:r>
            <a:r>
              <a:rPr lang="km-KH" dirty="0" smtClean="0">
                <a:latin typeface="Khmer OS" pitchFamily="2" charset="0"/>
                <a:cs typeface="Khmer OS" pitchFamily="2" charset="0"/>
              </a:rPr>
              <a:t>ពេល</a:t>
            </a:r>
            <a:r>
              <a:rPr lang="ca-ES" dirty="0" smtClean="0">
                <a:latin typeface="Khmer OS" pitchFamily="2" charset="0"/>
                <a:cs typeface="Khmer OS" pitchFamily="2" charset="0"/>
              </a:rPr>
              <a:t>ណាត់ជួប</a:t>
            </a:r>
            <a:endParaRPr lang="km-KH" dirty="0">
              <a:latin typeface="Khmer OS" pitchFamily="2" charset="0"/>
              <a:cs typeface="Khmer OS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47800" y="2133600"/>
            <a:ext cx="518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</a:t>
            </a:r>
            <a:r>
              <a:rPr lang="en-US" sz="2400" dirty="0" smtClean="0"/>
              <a:t>Our Objective</a:t>
            </a:r>
            <a:endParaRPr lang="en-US" sz="24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76" y="2057400"/>
            <a:ext cx="609524" cy="60952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649" y="1320902"/>
            <a:ext cx="812698" cy="81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95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3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1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2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5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5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492875"/>
            <a:ext cx="381000" cy="365125"/>
          </a:xfrm>
        </p:spPr>
        <p:txBody>
          <a:bodyPr/>
          <a:lstStyle/>
          <a:p>
            <a:fld id="{344FD16A-E3FF-4CFC-B3EE-A6F7727BED3D}" type="slidenum">
              <a:rPr lang="en-US" sz="2000" smtClean="0">
                <a:solidFill>
                  <a:schemeClr val="bg1"/>
                </a:solidFill>
                <a:latin typeface="Duepuntozero" pitchFamily="2" charset="0"/>
              </a:rPr>
              <a:t>8</a:t>
            </a:fld>
            <a:endParaRPr lang="en-US" sz="2000" dirty="0">
              <a:solidFill>
                <a:schemeClr val="bg1"/>
              </a:solidFill>
              <a:latin typeface="Duepuntozero" pitchFamily="2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28600" y="15875"/>
            <a:ext cx="8642757" cy="6519626"/>
            <a:chOff x="228600" y="15875"/>
            <a:chExt cx="8642757" cy="6519626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600" y="15875"/>
              <a:ext cx="5219700" cy="1238250"/>
            </a:xfrm>
            <a:prstGeom prst="rect">
              <a:avLst/>
            </a:prstGeom>
          </p:spPr>
        </p:pic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000" y="1254125"/>
              <a:ext cx="8490357" cy="5281376"/>
            </a:xfrm>
            <a:prstGeom prst="rect">
              <a:avLst/>
            </a:prstGeom>
          </p:spPr>
        </p:pic>
      </p:grpSp>
      <p:sp>
        <p:nvSpPr>
          <p:cNvPr id="3" name="TextBox 2"/>
          <p:cNvSpPr txBox="1"/>
          <p:nvPr/>
        </p:nvSpPr>
        <p:spPr>
          <a:xfrm>
            <a:off x="7543800" y="209490"/>
            <a:ext cx="1181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Bahamas" pitchFamily="2" charset="0"/>
              </a:rPr>
              <a:t>Group</a:t>
            </a:r>
            <a:r>
              <a:rPr lang="en-US" dirty="0" smtClean="0">
                <a:solidFill>
                  <a:schemeClr val="bg1"/>
                </a:solidFill>
                <a:latin typeface="Bahamas" pitchFamily="2" charset="0"/>
              </a:rPr>
              <a:t> 10</a:t>
            </a:r>
            <a:endParaRPr lang="en-US" dirty="0">
              <a:solidFill>
                <a:schemeClr val="bg1"/>
              </a:solidFill>
              <a:latin typeface="Bahamas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7800" y="1371600"/>
            <a:ext cx="472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</a:t>
            </a:r>
            <a:r>
              <a:rPr lang="en-US" sz="3600" dirty="0" smtClean="0"/>
              <a:t>. </a:t>
            </a:r>
            <a:r>
              <a:rPr lang="en-US" sz="2800" dirty="0" smtClean="0"/>
              <a:t>Introduction Continue</a:t>
            </a:r>
            <a:endParaRPr lang="en-US" sz="2800" dirty="0"/>
          </a:p>
        </p:txBody>
      </p:sp>
      <p:sp>
        <p:nvSpPr>
          <p:cNvPr id="15" name="TextBox 14"/>
          <p:cNvSpPr txBox="1"/>
          <p:nvPr/>
        </p:nvSpPr>
        <p:spPr>
          <a:xfrm>
            <a:off x="1562100" y="2743200"/>
            <a:ext cx="7277100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km-KH" dirty="0" smtClean="0">
                <a:latin typeface="Khmer OS" pitchFamily="2" charset="0"/>
                <a:cs typeface="Khmer OS" pitchFamily="2" charset="0"/>
              </a:rPr>
              <a:t>-</a:t>
            </a:r>
            <a:r>
              <a:rPr lang="en-US" dirty="0" smtClean="0">
                <a:latin typeface="Khmer OS" pitchFamily="2" charset="0"/>
                <a:cs typeface="Khmer OS" pitchFamily="2" charset="0"/>
              </a:rPr>
              <a:t>  </a:t>
            </a:r>
            <a:r>
              <a:rPr lang="ca-ES" dirty="0" smtClean="0">
                <a:latin typeface="Khmer OS" pitchFamily="2" charset="0"/>
                <a:cs typeface="Khmer OS" pitchFamily="2" charset="0"/>
              </a:rPr>
              <a:t>គ្រប់គ្រងទិន្នន័យអ្នកកជំងឺ</a:t>
            </a:r>
            <a:endParaRPr lang="en-US" dirty="0" smtClean="0">
              <a:latin typeface="Khmer OS" pitchFamily="2" charset="0"/>
              <a:cs typeface="Khmer OS" pitchFamily="2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km-KH" dirty="0" smtClean="0">
                <a:latin typeface="Khmer OS" pitchFamily="2" charset="0"/>
                <a:cs typeface="Khmer OS" pitchFamily="2" charset="0"/>
              </a:rPr>
              <a:t>-</a:t>
            </a:r>
            <a:r>
              <a:rPr lang="en-US" dirty="0" smtClean="0">
                <a:latin typeface="Khmer OS" pitchFamily="2" charset="0"/>
                <a:cs typeface="Khmer OS" pitchFamily="2" charset="0"/>
              </a:rPr>
              <a:t>  </a:t>
            </a:r>
            <a:r>
              <a:rPr lang="ca-ES" dirty="0" smtClean="0">
                <a:latin typeface="Khmer OS" pitchFamily="2" charset="0"/>
                <a:cs typeface="Khmer OS" pitchFamily="2" charset="0"/>
              </a:rPr>
              <a:t>គ្រប់គ្រងទិន្នន័យរបស់ទន្តពេទ្យ</a:t>
            </a:r>
            <a:endParaRPr lang="km-KH" dirty="0">
              <a:latin typeface="Khmer OS" pitchFamily="2" charset="0"/>
              <a:cs typeface="Khmer OS" pitchFamily="2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km-KH" dirty="0" smtClean="0">
                <a:latin typeface="Khmer OS" pitchFamily="2" charset="0"/>
                <a:cs typeface="Khmer OS" pitchFamily="2" charset="0"/>
              </a:rPr>
              <a:t>-</a:t>
            </a:r>
            <a:r>
              <a:rPr lang="en-US" dirty="0" smtClean="0">
                <a:latin typeface="Khmer OS" pitchFamily="2" charset="0"/>
                <a:cs typeface="Khmer OS" pitchFamily="2" charset="0"/>
              </a:rPr>
              <a:t>  </a:t>
            </a:r>
            <a:r>
              <a:rPr lang="ca-ES" dirty="0" smtClean="0">
                <a:latin typeface="Khmer OS" pitchFamily="2" charset="0"/>
                <a:cs typeface="Khmer OS" pitchFamily="2" charset="0"/>
              </a:rPr>
              <a:t>គ្រប់គ្រងទៅលើការណាត់ជួប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km-KH" dirty="0" smtClean="0">
                <a:latin typeface="Khmer OS" pitchFamily="2" charset="0"/>
                <a:cs typeface="Khmer OS" pitchFamily="2" charset="0"/>
              </a:rPr>
              <a:t>-</a:t>
            </a:r>
            <a:r>
              <a:rPr lang="en-US" dirty="0" smtClean="0">
                <a:latin typeface="Khmer OS" pitchFamily="2" charset="0"/>
                <a:cs typeface="Khmer OS" pitchFamily="2" charset="0"/>
              </a:rPr>
              <a:t>  </a:t>
            </a:r>
            <a:r>
              <a:rPr lang="ca-ES" dirty="0" smtClean="0">
                <a:latin typeface="Khmer OS" pitchFamily="2" charset="0"/>
                <a:cs typeface="Khmer OS" pitchFamily="2" charset="0"/>
              </a:rPr>
              <a:t>ការចេញវិក័យប័ត្រ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km-KH" dirty="0" smtClean="0">
                <a:latin typeface="Khmer OS" pitchFamily="2" charset="0"/>
                <a:cs typeface="Khmer OS" pitchFamily="2" charset="0"/>
              </a:rPr>
              <a:t>-</a:t>
            </a:r>
            <a:r>
              <a:rPr lang="en-US" dirty="0" smtClean="0">
                <a:latin typeface="Khmer OS" pitchFamily="2" charset="0"/>
                <a:cs typeface="Khmer OS" pitchFamily="2" charset="0"/>
              </a:rPr>
              <a:t>  </a:t>
            </a:r>
            <a:r>
              <a:rPr lang="ca-ES" dirty="0" smtClean="0">
                <a:latin typeface="Khmer OS" pitchFamily="2" charset="0"/>
                <a:cs typeface="Khmer OS" pitchFamily="2" charset="0"/>
              </a:rPr>
              <a:t>ការធ្វើ </a:t>
            </a:r>
            <a:r>
              <a:rPr lang="en-US" dirty="0" smtClean="0">
                <a:latin typeface="Khmer OS" pitchFamily="2" charset="0"/>
                <a:cs typeface="Khmer OS" pitchFamily="2" charset="0"/>
              </a:rPr>
              <a:t>Report</a:t>
            </a:r>
            <a:endParaRPr lang="km-KH" dirty="0">
              <a:latin typeface="Khmer OS" pitchFamily="2" charset="0"/>
              <a:cs typeface="Khmer OS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47800" y="2133600"/>
            <a:ext cx="518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</a:t>
            </a:r>
            <a:r>
              <a:rPr lang="en-US" sz="2400" dirty="0" smtClean="0"/>
              <a:t>Scope &amp; Limitation</a:t>
            </a:r>
            <a:endParaRPr lang="en-US" sz="24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76" y="2057400"/>
            <a:ext cx="609524" cy="60952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649" y="1320902"/>
            <a:ext cx="812698" cy="81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821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3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1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2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5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5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492875"/>
            <a:ext cx="381000" cy="365125"/>
          </a:xfrm>
        </p:spPr>
        <p:txBody>
          <a:bodyPr/>
          <a:lstStyle/>
          <a:p>
            <a:fld id="{344FD16A-E3FF-4CFC-B3EE-A6F7727BED3D}" type="slidenum">
              <a:rPr lang="en-US" sz="2000" smtClean="0">
                <a:solidFill>
                  <a:schemeClr val="bg1"/>
                </a:solidFill>
                <a:latin typeface="Duepuntozero" pitchFamily="2" charset="0"/>
              </a:rPr>
              <a:t>9</a:t>
            </a:fld>
            <a:endParaRPr lang="en-US" sz="2000" dirty="0">
              <a:solidFill>
                <a:schemeClr val="bg1"/>
              </a:solidFill>
              <a:latin typeface="Duepuntozero" pitchFamily="2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28600" y="15875"/>
            <a:ext cx="8642757" cy="6519626"/>
            <a:chOff x="228600" y="15875"/>
            <a:chExt cx="8642757" cy="6519626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600" y="15875"/>
              <a:ext cx="5219700" cy="1238250"/>
            </a:xfrm>
            <a:prstGeom prst="rect">
              <a:avLst/>
            </a:prstGeom>
          </p:spPr>
        </p:pic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000" y="1254125"/>
              <a:ext cx="8490357" cy="5281376"/>
            </a:xfrm>
            <a:prstGeom prst="rect">
              <a:avLst/>
            </a:prstGeom>
          </p:spPr>
        </p:pic>
      </p:grpSp>
      <p:sp>
        <p:nvSpPr>
          <p:cNvPr id="3" name="TextBox 2"/>
          <p:cNvSpPr txBox="1"/>
          <p:nvPr/>
        </p:nvSpPr>
        <p:spPr>
          <a:xfrm>
            <a:off x="7543800" y="209490"/>
            <a:ext cx="1181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Bahamas" pitchFamily="2" charset="0"/>
              </a:rPr>
              <a:t>Group</a:t>
            </a:r>
            <a:r>
              <a:rPr lang="en-US" dirty="0" smtClean="0">
                <a:solidFill>
                  <a:schemeClr val="bg1"/>
                </a:solidFill>
                <a:latin typeface="Bahamas" pitchFamily="2" charset="0"/>
              </a:rPr>
              <a:t> 10</a:t>
            </a:r>
            <a:endParaRPr lang="en-US" dirty="0">
              <a:solidFill>
                <a:schemeClr val="bg1"/>
              </a:solidFill>
              <a:latin typeface="Bahamas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7800" y="1371600"/>
            <a:ext cx="472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II</a:t>
            </a:r>
            <a:r>
              <a:rPr lang="en-US" sz="3600" dirty="0" smtClean="0"/>
              <a:t>. </a:t>
            </a:r>
            <a:r>
              <a:rPr lang="en-US" sz="2800" dirty="0"/>
              <a:t>Methodology of Research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900" y="3461898"/>
            <a:ext cx="7277100" cy="1719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smtClean="0">
                <a:latin typeface="Khmer OS" pitchFamily="2" charset="0"/>
                <a:cs typeface="Khmer OS" pitchFamily="2" charset="0"/>
              </a:rPr>
              <a:t>	</a:t>
            </a:r>
            <a:r>
              <a:rPr lang="km-KH" dirty="0" smtClean="0">
                <a:latin typeface="Khmer OS" pitchFamily="2" charset="0"/>
                <a:cs typeface="Khmer OS" pitchFamily="2" charset="0"/>
              </a:rPr>
              <a:t>គ្</a:t>
            </a:r>
            <a:r>
              <a:rPr lang="km-KH" dirty="0">
                <a:latin typeface="Khmer OS" pitchFamily="2" charset="0"/>
                <a:cs typeface="Khmer OS" pitchFamily="2" charset="0"/>
              </a:rPr>
              <a:t>លីនិកធ្មេញ ប៉ាស្ទ័រ ដែលពួកយើងបានធ្វើការចុះកម្មសិក្សាដើម្បីកសាងប្រព័ន្ធ </a:t>
            </a:r>
            <a:r>
              <a:rPr lang="en-US" dirty="0">
                <a:latin typeface="Khmer OS" pitchFamily="2" charset="0"/>
                <a:cs typeface="Khmer OS" pitchFamily="2" charset="0"/>
              </a:rPr>
              <a:t>Database </a:t>
            </a:r>
            <a:r>
              <a:rPr lang="km-KH" dirty="0">
                <a:latin typeface="Khmer OS" pitchFamily="2" charset="0"/>
                <a:cs typeface="Khmer OS" pitchFamily="2" charset="0"/>
              </a:rPr>
              <a:t>នេះមានទីតាំងនៅក្នុង រាជធានីភ្នំពេញ ផ្ទះលេខ  #៣៧៤/៣៤៩, ផ្លូវកម្ពុជាក្រោម ( ខាងលិចភោជនីយដ្ឋាន លីឡាយ ៣០ម៉ែត្រ )។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295400"/>
            <a:ext cx="812698" cy="81269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28800" y="2738735"/>
            <a:ext cx="251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dirty="0"/>
              <a:t> Study</a:t>
            </a:r>
            <a:r>
              <a:rPr lang="en-US" sz="2400" b="1" dirty="0"/>
              <a:t> </a:t>
            </a:r>
            <a:r>
              <a:rPr lang="en-US" sz="2400" dirty="0"/>
              <a:t>Area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702" y="2387702"/>
            <a:ext cx="812698" cy="81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112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8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3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3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5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492875"/>
            <a:ext cx="381000" cy="365125"/>
          </a:xfrm>
        </p:spPr>
        <p:txBody>
          <a:bodyPr/>
          <a:lstStyle/>
          <a:p>
            <a:fld id="{344FD16A-E3FF-4CFC-B3EE-A6F7727BED3D}" type="slidenum">
              <a:rPr lang="en-US" sz="2000" smtClean="0">
                <a:solidFill>
                  <a:schemeClr val="bg1"/>
                </a:solidFill>
                <a:latin typeface="Duepuntozero" pitchFamily="2" charset="0"/>
              </a:rPr>
              <a:t>10</a:t>
            </a:fld>
            <a:endParaRPr lang="en-US" sz="2000" dirty="0">
              <a:solidFill>
                <a:schemeClr val="bg1"/>
              </a:solidFill>
              <a:latin typeface="Duepuntozero" pitchFamily="2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28600" y="0"/>
            <a:ext cx="8642757" cy="6519626"/>
            <a:chOff x="228600" y="15875"/>
            <a:chExt cx="8642757" cy="6519626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600" y="15875"/>
              <a:ext cx="5219700" cy="1238250"/>
            </a:xfrm>
            <a:prstGeom prst="rect">
              <a:avLst/>
            </a:prstGeom>
          </p:spPr>
        </p:pic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000" y="1254125"/>
              <a:ext cx="8490357" cy="5281376"/>
            </a:xfrm>
            <a:prstGeom prst="rect">
              <a:avLst/>
            </a:prstGeom>
          </p:spPr>
        </p:pic>
      </p:grpSp>
      <p:sp>
        <p:nvSpPr>
          <p:cNvPr id="3" name="TextBox 2"/>
          <p:cNvSpPr txBox="1"/>
          <p:nvPr/>
        </p:nvSpPr>
        <p:spPr>
          <a:xfrm>
            <a:off x="7543800" y="209490"/>
            <a:ext cx="1181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Bahamas" pitchFamily="2" charset="0"/>
              </a:rPr>
              <a:t>Group</a:t>
            </a:r>
            <a:r>
              <a:rPr lang="en-US" dirty="0" smtClean="0">
                <a:solidFill>
                  <a:schemeClr val="bg1"/>
                </a:solidFill>
                <a:latin typeface="Bahamas" pitchFamily="2" charset="0"/>
              </a:rPr>
              <a:t> 10</a:t>
            </a:r>
            <a:endParaRPr lang="en-US" dirty="0">
              <a:solidFill>
                <a:schemeClr val="bg1"/>
              </a:solidFill>
              <a:latin typeface="Bahamas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7800" y="1371600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II</a:t>
            </a:r>
            <a:r>
              <a:rPr lang="en-US" sz="3600" dirty="0" smtClean="0"/>
              <a:t>. </a:t>
            </a:r>
            <a:r>
              <a:rPr lang="en-US" sz="2800" dirty="0"/>
              <a:t>Methodology of </a:t>
            </a:r>
            <a:r>
              <a:rPr lang="en-US" sz="2800" dirty="0" smtClean="0"/>
              <a:t>Research Continue</a:t>
            </a:r>
            <a:endParaRPr lang="en-US" sz="2800" dirty="0"/>
          </a:p>
        </p:txBody>
      </p:sp>
      <p:sp>
        <p:nvSpPr>
          <p:cNvPr id="15" name="TextBox 14"/>
          <p:cNvSpPr txBox="1"/>
          <p:nvPr/>
        </p:nvSpPr>
        <p:spPr>
          <a:xfrm>
            <a:off x="1028700" y="3429000"/>
            <a:ext cx="727710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smtClean="0">
                <a:latin typeface="Khmer OS" pitchFamily="2" charset="0"/>
                <a:cs typeface="Khmer OS" pitchFamily="2" charset="0"/>
              </a:rPr>
              <a:t>Primary </a:t>
            </a:r>
            <a:r>
              <a:rPr lang="en-US" dirty="0">
                <a:latin typeface="Khmer OS" pitchFamily="2" charset="0"/>
                <a:cs typeface="Khmer OS" pitchFamily="2" charset="0"/>
              </a:rPr>
              <a:t>Data </a:t>
            </a:r>
            <a:r>
              <a:rPr lang="km-KH" dirty="0">
                <a:latin typeface="Khmer OS" pitchFamily="2" charset="0"/>
                <a:cs typeface="Khmer OS" pitchFamily="2" charset="0"/>
              </a:rPr>
              <a:t>គឺជា </a:t>
            </a:r>
            <a:r>
              <a:rPr lang="en-US" dirty="0">
                <a:latin typeface="Khmer OS" pitchFamily="2" charset="0"/>
                <a:cs typeface="Khmer OS" pitchFamily="2" charset="0"/>
              </a:rPr>
              <a:t>Data </a:t>
            </a:r>
            <a:r>
              <a:rPr lang="km-KH" dirty="0">
                <a:latin typeface="Khmer OS" pitchFamily="2" charset="0"/>
                <a:cs typeface="Khmer OS" pitchFamily="2" charset="0"/>
              </a:rPr>
              <a:t>ដែលមានភាពចាំបាច់ និង សំខាន់បំផុត ដើម្បីឈានទៅការកសាងប្រព័ន្ធ </a:t>
            </a:r>
            <a:r>
              <a:rPr lang="en-US" dirty="0">
                <a:latin typeface="Khmer OS" pitchFamily="2" charset="0"/>
                <a:cs typeface="Khmer OS" pitchFamily="2" charset="0"/>
              </a:rPr>
              <a:t>Database</a:t>
            </a:r>
            <a:r>
              <a:rPr lang="km-KH" dirty="0">
                <a:latin typeface="Khmer OS" pitchFamily="2" charset="0"/>
                <a:cs typeface="Khmer OS" pitchFamily="2" charset="0"/>
              </a:rPr>
              <a:t>។ </a:t>
            </a:r>
            <a:r>
              <a:rPr lang="ca-ES" dirty="0" smtClean="0">
                <a:latin typeface="Khmer OS" pitchFamily="2" charset="0"/>
                <a:cs typeface="Khmer OS" pitchFamily="2" charset="0"/>
              </a:rPr>
              <a:t> វិធីសាស្ត្រដើម្បីប្រមូល </a:t>
            </a:r>
            <a:r>
              <a:rPr lang="en-US" dirty="0" smtClean="0">
                <a:latin typeface="Khmer OS" pitchFamily="2" charset="0"/>
                <a:cs typeface="Khmer OS" pitchFamily="2" charset="0"/>
              </a:rPr>
              <a:t>Primary data </a:t>
            </a:r>
            <a:r>
              <a:rPr lang="ca-ES" dirty="0" smtClean="0">
                <a:latin typeface="Khmer OS" pitchFamily="2" charset="0"/>
                <a:cs typeface="Khmer OS" pitchFamily="2" charset="0"/>
              </a:rPr>
              <a:t>មានដូចជា </a:t>
            </a:r>
            <a:r>
              <a:rPr lang="en-US" dirty="0">
                <a:latin typeface="Khmer OS" pitchFamily="2" charset="0"/>
                <a:cs typeface="Khmer OS" pitchFamily="2" charset="0"/>
              </a:rPr>
              <a:t>Interview, </a:t>
            </a:r>
            <a:r>
              <a:rPr lang="en-US" dirty="0" smtClean="0">
                <a:latin typeface="Khmer OS" pitchFamily="2" charset="0"/>
                <a:cs typeface="Khmer OS" pitchFamily="2" charset="0"/>
              </a:rPr>
              <a:t>Questionnaire </a:t>
            </a:r>
            <a:r>
              <a:rPr lang="ca-ES" dirty="0">
                <a:latin typeface="Khmer OS" pitchFamily="2" charset="0"/>
                <a:cs typeface="Khmer OS" pitchFamily="2" charset="0"/>
              </a:rPr>
              <a:t>និង ការធ្វើ Survey ជាដើម។</a:t>
            </a:r>
            <a:endParaRPr lang="en-US" dirty="0" smtClean="0">
              <a:latin typeface="Khmer OS" pitchFamily="2" charset="0"/>
              <a:cs typeface="Khmer OS" pitchFamily="2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295400"/>
            <a:ext cx="812698" cy="81269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62200" y="2514600"/>
            <a:ext cx="251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b="1" dirty="0"/>
              <a:t> </a:t>
            </a:r>
            <a:r>
              <a:rPr lang="en-US" sz="2400" dirty="0"/>
              <a:t>Data Collection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048000"/>
            <a:ext cx="2514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200" b="1" dirty="0"/>
              <a:t> </a:t>
            </a:r>
            <a:r>
              <a:rPr lang="en-US" sz="2200" b="1" dirty="0" smtClean="0"/>
              <a:t>- </a:t>
            </a:r>
            <a:r>
              <a:rPr lang="en-US" sz="2200" dirty="0" smtClean="0"/>
              <a:t>Primary data</a:t>
            </a:r>
            <a:endParaRPr lang="en-US" sz="2200" dirty="0"/>
          </a:p>
        </p:txBody>
      </p:sp>
      <p:sp>
        <p:nvSpPr>
          <p:cNvPr id="16" name="TextBox 15"/>
          <p:cNvSpPr txBox="1"/>
          <p:nvPr/>
        </p:nvSpPr>
        <p:spPr>
          <a:xfrm>
            <a:off x="685800" y="4724400"/>
            <a:ext cx="2514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200" b="1" dirty="0"/>
              <a:t> </a:t>
            </a:r>
            <a:r>
              <a:rPr lang="en-US" sz="2200" b="1" dirty="0" smtClean="0"/>
              <a:t>- </a:t>
            </a:r>
            <a:r>
              <a:rPr lang="en-US" sz="2200" dirty="0" smtClean="0"/>
              <a:t>Secondary data</a:t>
            </a:r>
            <a:endParaRPr lang="en-US" sz="2200" dirty="0"/>
          </a:p>
        </p:txBody>
      </p:sp>
      <p:sp>
        <p:nvSpPr>
          <p:cNvPr id="17" name="TextBox 16"/>
          <p:cNvSpPr txBox="1"/>
          <p:nvPr/>
        </p:nvSpPr>
        <p:spPr>
          <a:xfrm>
            <a:off x="1028700" y="5105400"/>
            <a:ext cx="7277100" cy="187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Khmer OS" pitchFamily="2" charset="0"/>
                <a:cs typeface="Khmer OS" pitchFamily="2" charset="0"/>
              </a:rPr>
              <a:t>Secondary Data </a:t>
            </a:r>
            <a:r>
              <a:rPr lang="km-KH" dirty="0">
                <a:latin typeface="Khmer OS" pitchFamily="2" charset="0"/>
                <a:cs typeface="Khmer OS" pitchFamily="2" charset="0"/>
              </a:rPr>
              <a:t>គឺជា </a:t>
            </a:r>
            <a:r>
              <a:rPr lang="en-US" dirty="0">
                <a:latin typeface="Khmer OS" pitchFamily="2" charset="0"/>
                <a:cs typeface="Khmer OS" pitchFamily="2" charset="0"/>
              </a:rPr>
              <a:t>Data </a:t>
            </a:r>
            <a:r>
              <a:rPr lang="km-KH" dirty="0">
                <a:latin typeface="Khmer OS" pitchFamily="2" charset="0"/>
                <a:cs typeface="Khmer OS" pitchFamily="2" charset="0"/>
              </a:rPr>
              <a:t>បន្ទាប់បន្សំសម្រាប់កសារប្រព័ន្ធ </a:t>
            </a:r>
            <a:r>
              <a:rPr lang="en-US" dirty="0">
                <a:latin typeface="Khmer OS" pitchFamily="2" charset="0"/>
                <a:cs typeface="Khmer OS" pitchFamily="2" charset="0"/>
              </a:rPr>
              <a:t>Database </a:t>
            </a:r>
            <a:r>
              <a:rPr lang="km-KH" dirty="0">
                <a:latin typeface="Khmer OS" pitchFamily="2" charset="0"/>
                <a:cs typeface="Khmer OS" pitchFamily="2" charset="0"/>
              </a:rPr>
              <a:t>ឬ ជា </a:t>
            </a:r>
            <a:r>
              <a:rPr lang="en-US" dirty="0">
                <a:latin typeface="Khmer OS" pitchFamily="2" charset="0"/>
                <a:cs typeface="Khmer OS" pitchFamily="2" charset="0"/>
              </a:rPr>
              <a:t>Data </a:t>
            </a:r>
            <a:r>
              <a:rPr lang="km-KH" dirty="0">
                <a:latin typeface="Khmer OS" pitchFamily="2" charset="0"/>
                <a:cs typeface="Khmer OS" pitchFamily="2" charset="0"/>
              </a:rPr>
              <a:t>សម្រាប់ធ្វើជា </a:t>
            </a:r>
            <a:r>
              <a:rPr lang="en-US" dirty="0">
                <a:latin typeface="Khmer OS" pitchFamily="2" charset="0"/>
                <a:cs typeface="Khmer OS" pitchFamily="2" charset="0"/>
              </a:rPr>
              <a:t>Reference</a:t>
            </a:r>
            <a:r>
              <a:rPr lang="km-KH" dirty="0" smtClean="0">
                <a:latin typeface="Khmer OS" pitchFamily="2" charset="0"/>
                <a:cs typeface="Khmer OS" pitchFamily="2" charset="0"/>
              </a:rPr>
              <a:t>។</a:t>
            </a:r>
            <a:r>
              <a:rPr lang="en-US" dirty="0" smtClean="0">
                <a:latin typeface="Khmer OS" pitchFamily="2" charset="0"/>
                <a:cs typeface="Khmer OS" pitchFamily="2" charset="0"/>
              </a:rPr>
              <a:t> </a:t>
            </a:r>
            <a:r>
              <a:rPr lang="ca-ES" dirty="0" smtClean="0">
                <a:latin typeface="Khmer OS" pitchFamily="2" charset="0"/>
                <a:cs typeface="Khmer OS" pitchFamily="2" charset="0"/>
              </a:rPr>
              <a:t>មានដូជា</a:t>
            </a:r>
            <a:r>
              <a:rPr lang="en-US" dirty="0">
                <a:latin typeface="Khmer OS" pitchFamily="2" charset="0"/>
                <a:cs typeface="Khmer OS" pitchFamily="2" charset="0"/>
              </a:rPr>
              <a:t>	Document </a:t>
            </a:r>
            <a:r>
              <a:rPr lang="en-US" dirty="0" smtClean="0">
                <a:latin typeface="Khmer OS" pitchFamily="2" charset="0"/>
                <a:cs typeface="Khmer OS" pitchFamily="2" charset="0"/>
              </a:rPr>
              <a:t>Review, Research, Sampling Magazine </a:t>
            </a:r>
            <a:r>
              <a:rPr lang="en-US" dirty="0">
                <a:latin typeface="Khmer OS" pitchFamily="2" charset="0"/>
                <a:cs typeface="Khmer OS" pitchFamily="2" charset="0"/>
              </a:rPr>
              <a:t>or </a:t>
            </a:r>
            <a:r>
              <a:rPr lang="en-US" dirty="0" smtClean="0">
                <a:latin typeface="Khmer OS" pitchFamily="2" charset="0"/>
                <a:cs typeface="Khmer OS" pitchFamily="2" charset="0"/>
              </a:rPr>
              <a:t>Newspaper </a:t>
            </a:r>
            <a:r>
              <a:rPr lang="ca-ES" dirty="0" smtClean="0">
                <a:latin typeface="Khmer OS" pitchFamily="2" charset="0"/>
                <a:cs typeface="Khmer OS" pitchFamily="2" charset="0"/>
              </a:rPr>
              <a:t>។</a:t>
            </a:r>
            <a:endParaRPr lang="en-US" dirty="0">
              <a:latin typeface="Khmer OS" pitchFamily="2" charset="0"/>
              <a:cs typeface="Khmer OS" pitchFamily="2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en-US" dirty="0" smtClean="0">
              <a:latin typeface="Khmer OS" pitchFamily="2" charset="0"/>
              <a:cs typeface="Khmer OS" pitchFamily="2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102" y="2163567"/>
            <a:ext cx="812698" cy="81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086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8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3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3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5" grpId="0"/>
      <p:bldP spid="13" grpId="0"/>
      <p:bldP spid="14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492875"/>
            <a:ext cx="381000" cy="365125"/>
          </a:xfrm>
        </p:spPr>
        <p:txBody>
          <a:bodyPr/>
          <a:lstStyle/>
          <a:p>
            <a:fld id="{344FD16A-E3FF-4CFC-B3EE-A6F7727BED3D}" type="slidenum">
              <a:rPr lang="en-US" sz="2000" smtClean="0">
                <a:solidFill>
                  <a:schemeClr val="bg1"/>
                </a:solidFill>
                <a:latin typeface="Duepuntozero" pitchFamily="2" charset="0"/>
              </a:rPr>
              <a:t>11</a:t>
            </a:fld>
            <a:endParaRPr lang="en-US" sz="2000" dirty="0">
              <a:solidFill>
                <a:schemeClr val="bg1"/>
              </a:solidFill>
              <a:latin typeface="Duepuntozero" pitchFamily="2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28600" y="0"/>
            <a:ext cx="8642757" cy="6519626"/>
            <a:chOff x="228600" y="15875"/>
            <a:chExt cx="8642757" cy="6519626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600" y="15875"/>
              <a:ext cx="5219700" cy="1238250"/>
            </a:xfrm>
            <a:prstGeom prst="rect">
              <a:avLst/>
            </a:prstGeom>
          </p:spPr>
        </p:pic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000" y="1254125"/>
              <a:ext cx="8490357" cy="5281376"/>
            </a:xfrm>
            <a:prstGeom prst="rect">
              <a:avLst/>
            </a:prstGeom>
          </p:spPr>
        </p:pic>
      </p:grpSp>
      <p:sp>
        <p:nvSpPr>
          <p:cNvPr id="3" name="TextBox 2"/>
          <p:cNvSpPr txBox="1"/>
          <p:nvPr/>
        </p:nvSpPr>
        <p:spPr>
          <a:xfrm>
            <a:off x="7543800" y="209490"/>
            <a:ext cx="1181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Bahamas" pitchFamily="2" charset="0"/>
              </a:rPr>
              <a:t>Group</a:t>
            </a:r>
            <a:r>
              <a:rPr lang="en-US" dirty="0" smtClean="0">
                <a:solidFill>
                  <a:schemeClr val="bg1"/>
                </a:solidFill>
                <a:latin typeface="Bahamas" pitchFamily="2" charset="0"/>
              </a:rPr>
              <a:t> 10</a:t>
            </a:r>
            <a:endParaRPr lang="en-US" dirty="0">
              <a:solidFill>
                <a:schemeClr val="bg1"/>
              </a:solidFill>
              <a:latin typeface="Bahamas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7800" y="1371600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II</a:t>
            </a:r>
            <a:r>
              <a:rPr lang="en-US" sz="3600" dirty="0" smtClean="0"/>
              <a:t>. </a:t>
            </a:r>
            <a:r>
              <a:rPr lang="en-US" sz="2800" dirty="0"/>
              <a:t>Methodology of </a:t>
            </a:r>
            <a:r>
              <a:rPr lang="en-US" sz="2800" dirty="0" smtClean="0"/>
              <a:t>Research Continue</a:t>
            </a:r>
            <a:endParaRPr lang="en-US" sz="2800" dirty="0"/>
          </a:p>
        </p:txBody>
      </p:sp>
      <p:sp>
        <p:nvSpPr>
          <p:cNvPr id="15" name="TextBox 14"/>
          <p:cNvSpPr txBox="1"/>
          <p:nvPr/>
        </p:nvSpPr>
        <p:spPr>
          <a:xfrm>
            <a:off x="1028700" y="3198435"/>
            <a:ext cx="7277100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smtClean="0">
                <a:latin typeface="Khmer OS" pitchFamily="2" charset="0"/>
                <a:cs typeface="Khmer OS" pitchFamily="2" charset="0"/>
              </a:rPr>
              <a:t>- Microsoft </a:t>
            </a:r>
            <a:r>
              <a:rPr lang="en-US" dirty="0">
                <a:latin typeface="Khmer OS" pitchFamily="2" charset="0"/>
                <a:cs typeface="Khmer OS" pitchFamily="2" charset="0"/>
              </a:rPr>
              <a:t>Office 2010 : 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smtClean="0">
                <a:latin typeface="Khmer OS" pitchFamily="2" charset="0"/>
                <a:cs typeface="Khmer OS" pitchFamily="2" charset="0"/>
              </a:rPr>
              <a:t>	Microsoft </a:t>
            </a:r>
            <a:r>
              <a:rPr lang="en-US" dirty="0">
                <a:latin typeface="Khmer OS" pitchFamily="2" charset="0"/>
                <a:cs typeface="Khmer OS" pitchFamily="2" charset="0"/>
              </a:rPr>
              <a:t>Office Access </a:t>
            </a:r>
            <a:r>
              <a:rPr lang="en-US" dirty="0" smtClean="0">
                <a:latin typeface="Khmer OS" pitchFamily="2" charset="0"/>
                <a:cs typeface="Khmer OS" pitchFamily="2" charset="0"/>
              </a:rPr>
              <a:t>2010 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smtClean="0">
                <a:latin typeface="Khmer OS" pitchFamily="2" charset="0"/>
                <a:cs typeface="Khmer OS" pitchFamily="2" charset="0"/>
              </a:rPr>
              <a:t>	Microsoft Office Word 2010</a:t>
            </a:r>
            <a:endParaRPr lang="km-KH" dirty="0" smtClean="0">
              <a:latin typeface="Khmer OS" pitchFamily="2" charset="0"/>
              <a:cs typeface="Khmer OS" pitchFamily="2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smtClean="0">
                <a:latin typeface="Khmer OS" pitchFamily="2" charset="0"/>
                <a:cs typeface="Khmer OS" pitchFamily="2" charset="0"/>
              </a:rPr>
              <a:t>	Microsoft </a:t>
            </a:r>
            <a:r>
              <a:rPr lang="en-US" dirty="0">
                <a:latin typeface="Khmer OS" pitchFamily="2" charset="0"/>
                <a:cs typeface="Khmer OS" pitchFamily="2" charset="0"/>
              </a:rPr>
              <a:t>Office Power </a:t>
            </a:r>
            <a:r>
              <a:rPr lang="en-US" dirty="0" err="1" smtClean="0">
                <a:latin typeface="Khmer OS" pitchFamily="2" charset="0"/>
                <a:cs typeface="Khmer OS" pitchFamily="2" charset="0"/>
              </a:rPr>
              <a:t>Piont</a:t>
            </a:r>
            <a:endParaRPr lang="en-US" dirty="0" smtClean="0">
              <a:latin typeface="Khmer OS" pitchFamily="2" charset="0"/>
              <a:cs typeface="Khmer OS" pitchFamily="2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smtClean="0">
                <a:latin typeface="Khmer OS" pitchFamily="2" charset="0"/>
                <a:cs typeface="Khmer OS" pitchFamily="2" charset="0"/>
              </a:rPr>
              <a:t>- Adobe </a:t>
            </a:r>
            <a:r>
              <a:rPr lang="en-US" dirty="0">
                <a:latin typeface="Khmer OS" pitchFamily="2" charset="0"/>
                <a:cs typeface="Khmer OS" pitchFamily="2" charset="0"/>
              </a:rPr>
              <a:t>Photoshop CS5 </a:t>
            </a:r>
            <a:endParaRPr lang="en-US" dirty="0" smtClean="0">
              <a:latin typeface="Khmer OS" pitchFamily="2" charset="0"/>
              <a:cs typeface="Khmer OS" pitchFamily="2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smtClean="0">
                <a:latin typeface="Khmer OS" pitchFamily="2" charset="0"/>
                <a:cs typeface="Khmer OS" pitchFamily="2" charset="0"/>
              </a:rPr>
              <a:t>- Smart Draw 2010</a:t>
            </a:r>
            <a:endParaRPr lang="km-KH" dirty="0">
              <a:latin typeface="Khmer OS" pitchFamily="2" charset="0"/>
              <a:cs typeface="Khmer OS" pitchFamily="2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295400"/>
            <a:ext cx="812698" cy="81269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62200" y="2514600"/>
            <a:ext cx="251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b="1" dirty="0"/>
              <a:t> </a:t>
            </a:r>
            <a:r>
              <a:rPr lang="en-US" sz="2400" dirty="0" smtClean="0"/>
              <a:t>Tools</a:t>
            </a:r>
            <a:endParaRPr lang="en-US" sz="24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500" y="2133600"/>
            <a:ext cx="812698" cy="81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783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8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3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8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5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492875"/>
            <a:ext cx="381000" cy="365125"/>
          </a:xfrm>
        </p:spPr>
        <p:txBody>
          <a:bodyPr/>
          <a:lstStyle/>
          <a:p>
            <a:fld id="{344FD16A-E3FF-4CFC-B3EE-A6F7727BED3D}" type="slidenum">
              <a:rPr lang="en-US" sz="2000" smtClean="0">
                <a:solidFill>
                  <a:schemeClr val="bg1"/>
                </a:solidFill>
                <a:latin typeface="Duepuntozero" pitchFamily="2" charset="0"/>
              </a:rPr>
              <a:t>12</a:t>
            </a:fld>
            <a:endParaRPr lang="en-US" sz="2000" dirty="0">
              <a:solidFill>
                <a:schemeClr val="bg1"/>
              </a:solidFill>
              <a:latin typeface="Duepuntozero" pitchFamily="2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28600" y="0"/>
            <a:ext cx="8642757" cy="6519626"/>
            <a:chOff x="228600" y="15875"/>
            <a:chExt cx="8642757" cy="6519626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600" y="15875"/>
              <a:ext cx="5219700" cy="1238250"/>
            </a:xfrm>
            <a:prstGeom prst="rect">
              <a:avLst/>
            </a:prstGeom>
          </p:spPr>
        </p:pic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000" y="1254125"/>
              <a:ext cx="8490357" cy="5281376"/>
            </a:xfrm>
            <a:prstGeom prst="rect">
              <a:avLst/>
            </a:prstGeom>
          </p:spPr>
        </p:pic>
      </p:grpSp>
      <p:sp>
        <p:nvSpPr>
          <p:cNvPr id="3" name="TextBox 2"/>
          <p:cNvSpPr txBox="1"/>
          <p:nvPr/>
        </p:nvSpPr>
        <p:spPr>
          <a:xfrm>
            <a:off x="7543800" y="209490"/>
            <a:ext cx="1181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Bahamas" pitchFamily="2" charset="0"/>
              </a:rPr>
              <a:t>Group</a:t>
            </a:r>
            <a:r>
              <a:rPr lang="en-US" dirty="0" smtClean="0">
                <a:solidFill>
                  <a:schemeClr val="bg1"/>
                </a:solidFill>
                <a:latin typeface="Bahamas" pitchFamily="2" charset="0"/>
              </a:rPr>
              <a:t> 10</a:t>
            </a:r>
            <a:endParaRPr lang="en-US" dirty="0">
              <a:solidFill>
                <a:schemeClr val="bg1"/>
              </a:solidFill>
              <a:latin typeface="Bahamas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7800" y="1371600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II</a:t>
            </a:r>
            <a:r>
              <a:rPr lang="en-US" sz="3600" dirty="0" smtClean="0"/>
              <a:t>. </a:t>
            </a:r>
            <a:r>
              <a:rPr lang="en-US" sz="2800" dirty="0"/>
              <a:t>Methodology of </a:t>
            </a:r>
            <a:r>
              <a:rPr lang="en-US" sz="2800" dirty="0" smtClean="0"/>
              <a:t>Research Continue</a:t>
            </a:r>
            <a:endParaRPr lang="en-US" sz="2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295400"/>
            <a:ext cx="812698" cy="81269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62200" y="2438400"/>
            <a:ext cx="419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dirty="0"/>
              <a:t> Hardware Requirements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2971800"/>
            <a:ext cx="78867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Khmer OS" pitchFamily="2" charset="0"/>
                <a:cs typeface="Khmer OS" pitchFamily="2" charset="0"/>
              </a:rPr>
              <a:t>- Processor</a:t>
            </a:r>
            <a:r>
              <a:rPr lang="en-US" dirty="0">
                <a:latin typeface="Khmer OS" pitchFamily="2" charset="0"/>
                <a:cs typeface="Khmer OS" pitchFamily="2" charset="0"/>
              </a:rPr>
              <a:t>	: 	500-megahertz (MHz) or higher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Khmer OS" pitchFamily="2" charset="0"/>
                <a:cs typeface="Khmer OS" pitchFamily="2" charset="0"/>
              </a:rPr>
              <a:t>- Hard </a:t>
            </a:r>
            <a:r>
              <a:rPr lang="en-US" dirty="0">
                <a:latin typeface="Khmer OS" pitchFamily="2" charset="0"/>
                <a:cs typeface="Khmer OS" pitchFamily="2" charset="0"/>
              </a:rPr>
              <a:t>disk	: 	2 gigabyte available disk space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Khmer OS" pitchFamily="2" charset="0"/>
                <a:cs typeface="Khmer OS" pitchFamily="2" charset="0"/>
              </a:rPr>
              <a:t>- Memory</a:t>
            </a:r>
            <a:r>
              <a:rPr lang="en-US" dirty="0">
                <a:latin typeface="Khmer OS" pitchFamily="2" charset="0"/>
                <a:cs typeface="Khmer OS" pitchFamily="2" charset="0"/>
              </a:rPr>
              <a:t>	: 	256 megabytes (MB) of RAM or higher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Khmer OS" pitchFamily="2" charset="0"/>
                <a:cs typeface="Khmer OS" pitchFamily="2" charset="0"/>
              </a:rPr>
              <a:t>- Display</a:t>
            </a:r>
            <a:r>
              <a:rPr lang="en-US" dirty="0">
                <a:latin typeface="Khmer OS" pitchFamily="2" charset="0"/>
                <a:cs typeface="Khmer OS" pitchFamily="2" charset="0"/>
              </a:rPr>
              <a:t>		: 	1024 × 768 or higher resolution monitor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Khmer OS" pitchFamily="2" charset="0"/>
                <a:cs typeface="Khmer OS" pitchFamily="2" charset="0"/>
              </a:rPr>
              <a:t>- Operating </a:t>
            </a:r>
            <a:r>
              <a:rPr lang="en-US" dirty="0">
                <a:latin typeface="Khmer OS" pitchFamily="2" charset="0"/>
                <a:cs typeface="Khmer OS" pitchFamily="2" charset="0"/>
              </a:rPr>
              <a:t>system : Windows XP with Service Pack (SP) 3 (32-bit), Windows Vista with SP1, Windows Server 2003 R2 with MSXML 6.0, Windows Server 2008 or later (32-bit or 64-bit), Windows 7 or later operating systems</a:t>
            </a:r>
            <a:r>
              <a:rPr lang="en-US" dirty="0" smtClean="0">
                <a:latin typeface="Khmer OS" pitchFamily="2" charset="0"/>
                <a:cs typeface="Khmer OS" pitchFamily="2" charset="0"/>
              </a:rPr>
              <a:t>.</a:t>
            </a:r>
            <a:endParaRPr lang="en-US" dirty="0">
              <a:latin typeface="Khmer OS" pitchFamily="2" charset="0"/>
              <a:cs typeface="Khmer OS" pitchFamily="2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153" y="2057400"/>
            <a:ext cx="812698" cy="81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8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8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300"/>
                            </p:stCondLst>
                            <p:childTnLst>
                              <p:par>
                                <p:cTn id="2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8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3" grpId="0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492875"/>
            <a:ext cx="381000" cy="365125"/>
          </a:xfrm>
        </p:spPr>
        <p:txBody>
          <a:bodyPr/>
          <a:lstStyle/>
          <a:p>
            <a:fld id="{344FD16A-E3FF-4CFC-B3EE-A6F7727BED3D}" type="slidenum">
              <a:rPr lang="en-US" sz="2000" smtClean="0">
                <a:solidFill>
                  <a:schemeClr val="bg1"/>
                </a:solidFill>
                <a:latin typeface="Duepuntozero" pitchFamily="2" charset="0"/>
              </a:rPr>
              <a:t>13</a:t>
            </a:fld>
            <a:endParaRPr lang="en-US" sz="2000" dirty="0">
              <a:solidFill>
                <a:schemeClr val="bg1"/>
              </a:solidFill>
              <a:latin typeface="Duepuntozero" pitchFamily="2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28600" y="0"/>
            <a:ext cx="8642757" cy="6519626"/>
            <a:chOff x="228600" y="15875"/>
            <a:chExt cx="8642757" cy="6519626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600" y="15875"/>
              <a:ext cx="5219700" cy="1238250"/>
            </a:xfrm>
            <a:prstGeom prst="rect">
              <a:avLst/>
            </a:prstGeom>
          </p:spPr>
        </p:pic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000" y="1254125"/>
              <a:ext cx="8490357" cy="5281376"/>
            </a:xfrm>
            <a:prstGeom prst="rect">
              <a:avLst/>
            </a:prstGeom>
          </p:spPr>
        </p:pic>
      </p:grpSp>
      <p:sp>
        <p:nvSpPr>
          <p:cNvPr id="3" name="TextBox 2"/>
          <p:cNvSpPr txBox="1"/>
          <p:nvPr/>
        </p:nvSpPr>
        <p:spPr>
          <a:xfrm>
            <a:off x="7543800" y="209490"/>
            <a:ext cx="1181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Bahamas" pitchFamily="2" charset="0"/>
              </a:rPr>
              <a:t>Group</a:t>
            </a:r>
            <a:r>
              <a:rPr lang="en-US" dirty="0" smtClean="0">
                <a:solidFill>
                  <a:schemeClr val="bg1"/>
                </a:solidFill>
                <a:latin typeface="Bahamas" pitchFamily="2" charset="0"/>
              </a:rPr>
              <a:t> 10</a:t>
            </a:r>
            <a:endParaRPr lang="en-US" dirty="0">
              <a:solidFill>
                <a:schemeClr val="bg1"/>
              </a:solidFill>
              <a:latin typeface="Bahamas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7800" y="1371600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</a:t>
            </a:r>
            <a:r>
              <a:rPr lang="en-US" sz="2800" dirty="0" smtClean="0"/>
              <a:t>II</a:t>
            </a:r>
            <a:r>
              <a:rPr lang="en-US" sz="3600" dirty="0" smtClean="0"/>
              <a:t>. </a:t>
            </a:r>
            <a:r>
              <a:rPr lang="en-US" sz="2800" dirty="0"/>
              <a:t>Database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1289" y="2286000"/>
            <a:ext cx="23947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dirty="0"/>
              <a:t> </a:t>
            </a:r>
            <a:r>
              <a:rPr lang="en-US" sz="2400" dirty="0" smtClean="0"/>
              <a:t> Data Flow</a:t>
            </a:r>
            <a:endParaRPr lang="en-US" sz="24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611" y="1219200"/>
            <a:ext cx="799989" cy="799989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838200" y="4045862"/>
            <a:ext cx="1066800" cy="449938"/>
            <a:chOff x="838200" y="3429000"/>
            <a:chExt cx="1066800" cy="449938"/>
          </a:xfrm>
        </p:grpSpPr>
        <p:sp>
          <p:nvSpPr>
            <p:cNvPr id="10" name="Rectangle 9"/>
            <p:cNvSpPr/>
            <p:nvPr/>
          </p:nvSpPr>
          <p:spPr>
            <a:xfrm>
              <a:off x="838200" y="3429000"/>
              <a:ext cx="1066800" cy="44993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057247" y="3469303"/>
              <a:ext cx="6287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User</a:t>
              </a:r>
              <a:endParaRPr lang="en-US" dirty="0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730361" y="2861964"/>
            <a:ext cx="2241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 smtClean="0"/>
              <a:t>-  Add new employee</a:t>
            </a:r>
            <a:endParaRPr lang="en-US" dirty="0"/>
          </a:p>
        </p:txBody>
      </p:sp>
      <p:grpSp>
        <p:nvGrpSpPr>
          <p:cNvPr id="19" name="Group 18"/>
          <p:cNvGrpSpPr/>
          <p:nvPr/>
        </p:nvGrpSpPr>
        <p:grpSpPr>
          <a:xfrm>
            <a:off x="4638878" y="3924300"/>
            <a:ext cx="1352550" cy="693062"/>
            <a:chOff x="2838450" y="3878938"/>
            <a:chExt cx="1352550" cy="693062"/>
          </a:xfrm>
        </p:grpSpPr>
        <p:sp>
          <p:nvSpPr>
            <p:cNvPr id="15" name="Oval 14"/>
            <p:cNvSpPr/>
            <p:nvPr/>
          </p:nvSpPr>
          <p:spPr>
            <a:xfrm>
              <a:off x="2838450" y="3878938"/>
              <a:ext cx="1352550" cy="693062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00400" y="4050268"/>
              <a:ext cx="76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Save</a:t>
              </a:r>
              <a:endParaRPr lang="en-US" dirty="0"/>
            </a:p>
          </p:txBody>
        </p:sp>
      </p:grpSp>
      <p:cxnSp>
        <p:nvCxnSpPr>
          <p:cNvPr id="22" name="Straight Arrow Connector 21"/>
          <p:cNvCxnSpPr/>
          <p:nvPr/>
        </p:nvCxnSpPr>
        <p:spPr>
          <a:xfrm>
            <a:off x="5340553" y="4617362"/>
            <a:ext cx="0" cy="64043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/>
          <p:cNvGrpSpPr/>
          <p:nvPr/>
        </p:nvGrpSpPr>
        <p:grpSpPr>
          <a:xfrm>
            <a:off x="4343400" y="5283200"/>
            <a:ext cx="1981200" cy="533400"/>
            <a:chOff x="2514600" y="5562600"/>
            <a:chExt cx="1981200" cy="533400"/>
          </a:xfrm>
        </p:grpSpPr>
        <p:grpSp>
          <p:nvGrpSpPr>
            <p:cNvPr id="28" name="Group 27"/>
            <p:cNvGrpSpPr/>
            <p:nvPr/>
          </p:nvGrpSpPr>
          <p:grpSpPr>
            <a:xfrm>
              <a:off x="2514600" y="5562600"/>
              <a:ext cx="1981200" cy="533400"/>
              <a:chOff x="2514600" y="5562600"/>
              <a:chExt cx="1981200" cy="533400"/>
            </a:xfrm>
          </p:grpSpPr>
          <p:cxnSp>
            <p:nvCxnSpPr>
              <p:cNvPr id="26" name="Straight Connector 25"/>
              <p:cNvCxnSpPr/>
              <p:nvPr/>
            </p:nvCxnSpPr>
            <p:spPr>
              <a:xfrm>
                <a:off x="2514600" y="5562600"/>
                <a:ext cx="1981200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2514600" y="6096000"/>
                <a:ext cx="1981200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TextBox 28"/>
            <p:cNvSpPr txBox="1"/>
            <p:nvPr/>
          </p:nvSpPr>
          <p:spPr>
            <a:xfrm>
              <a:off x="2714828" y="5624730"/>
              <a:ext cx="1704772" cy="377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Table Employee</a:t>
              </a:r>
              <a:endParaRPr lang="en-US" dirty="0"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1905000" y="3917096"/>
            <a:ext cx="2733878" cy="643236"/>
            <a:chOff x="1905000" y="3917096"/>
            <a:chExt cx="2733878" cy="643236"/>
          </a:xfrm>
        </p:grpSpPr>
        <p:cxnSp>
          <p:nvCxnSpPr>
            <p:cNvPr id="21" name="Straight Arrow Connector 20"/>
            <p:cNvCxnSpPr>
              <a:stCxn id="10" idx="3"/>
              <a:endCxn id="15" idx="2"/>
            </p:cNvCxnSpPr>
            <p:nvPr/>
          </p:nvCxnSpPr>
          <p:spPr>
            <a:xfrm>
              <a:off x="1905000" y="4270831"/>
              <a:ext cx="2733878" cy="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" name="Group 33"/>
            <p:cNvGrpSpPr/>
            <p:nvPr/>
          </p:nvGrpSpPr>
          <p:grpSpPr>
            <a:xfrm>
              <a:off x="2438400" y="3917096"/>
              <a:ext cx="2057400" cy="643236"/>
              <a:chOff x="2438400" y="3917096"/>
              <a:chExt cx="2057400" cy="643236"/>
            </a:xfrm>
          </p:grpSpPr>
          <p:sp>
            <p:nvSpPr>
              <p:cNvPr id="31" name="TextBox 30"/>
              <p:cNvSpPr txBox="1"/>
              <p:nvPr/>
            </p:nvSpPr>
            <p:spPr>
              <a:xfrm>
                <a:off x="2438400" y="3917096"/>
                <a:ext cx="2057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New employee </a:t>
                </a:r>
                <a:endParaRPr lang="en-US" dirty="0"/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2998889" y="4191000"/>
                <a:ext cx="7349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info</a:t>
                </a:r>
                <a:endParaRPr lang="en-US" dirty="0"/>
              </a:p>
            </p:txBody>
          </p:sp>
        </p:grpSp>
      </p:grpSp>
      <p:pic>
        <p:nvPicPr>
          <p:cNvPr id="33" name="Picture 3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915" y="1955630"/>
            <a:ext cx="838285" cy="83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142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3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1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2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5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3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492875"/>
            <a:ext cx="381000" cy="365125"/>
          </a:xfrm>
        </p:spPr>
        <p:txBody>
          <a:bodyPr/>
          <a:lstStyle/>
          <a:p>
            <a:fld id="{344FD16A-E3FF-4CFC-B3EE-A6F7727BED3D}" type="slidenum">
              <a:rPr lang="en-US" sz="2000" smtClean="0">
                <a:solidFill>
                  <a:schemeClr val="bg1"/>
                </a:solidFill>
                <a:latin typeface="Duepuntozero" pitchFamily="2" charset="0"/>
              </a:rPr>
              <a:t>14</a:t>
            </a:fld>
            <a:endParaRPr lang="en-US" sz="2000" dirty="0">
              <a:solidFill>
                <a:schemeClr val="bg1"/>
              </a:solidFill>
              <a:latin typeface="Duepuntozero" pitchFamily="2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28600" y="0"/>
            <a:ext cx="8642757" cy="6519626"/>
            <a:chOff x="228600" y="15875"/>
            <a:chExt cx="8642757" cy="6519626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600" y="15875"/>
              <a:ext cx="5219700" cy="1238250"/>
            </a:xfrm>
            <a:prstGeom prst="rect">
              <a:avLst/>
            </a:prstGeom>
          </p:spPr>
        </p:pic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000" y="1254125"/>
              <a:ext cx="8490357" cy="5281376"/>
            </a:xfrm>
            <a:prstGeom prst="rect">
              <a:avLst/>
            </a:prstGeom>
          </p:spPr>
        </p:pic>
      </p:grpSp>
      <p:sp>
        <p:nvSpPr>
          <p:cNvPr id="3" name="TextBox 2"/>
          <p:cNvSpPr txBox="1"/>
          <p:nvPr/>
        </p:nvSpPr>
        <p:spPr>
          <a:xfrm>
            <a:off x="7543800" y="209490"/>
            <a:ext cx="1181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Bahamas" pitchFamily="2" charset="0"/>
              </a:rPr>
              <a:t>Group</a:t>
            </a:r>
            <a:r>
              <a:rPr lang="en-US" dirty="0" smtClean="0">
                <a:solidFill>
                  <a:schemeClr val="bg1"/>
                </a:solidFill>
                <a:latin typeface="Bahamas" pitchFamily="2" charset="0"/>
              </a:rPr>
              <a:t> 10</a:t>
            </a:r>
            <a:endParaRPr lang="en-US" dirty="0">
              <a:solidFill>
                <a:schemeClr val="bg1"/>
              </a:solidFill>
              <a:latin typeface="Bahamas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7800" y="1371600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</a:t>
            </a:r>
            <a:r>
              <a:rPr lang="en-US" sz="2800" dirty="0" smtClean="0"/>
              <a:t>II</a:t>
            </a:r>
            <a:r>
              <a:rPr lang="en-US" sz="3600" dirty="0" smtClean="0"/>
              <a:t>. </a:t>
            </a:r>
            <a:r>
              <a:rPr lang="en-US" sz="2800" dirty="0"/>
              <a:t>Database </a:t>
            </a:r>
            <a:r>
              <a:rPr lang="en-US" sz="2800" dirty="0" smtClean="0"/>
              <a:t>Design Continue</a:t>
            </a:r>
            <a:endParaRPr lang="en-US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2301289" y="2286000"/>
            <a:ext cx="3261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dirty="0"/>
              <a:t> </a:t>
            </a:r>
            <a:r>
              <a:rPr lang="en-US" sz="2400" dirty="0" smtClean="0"/>
              <a:t> Data Flow Continue</a:t>
            </a:r>
            <a:endParaRPr lang="en-US" sz="24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611" y="1219200"/>
            <a:ext cx="799989" cy="799989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838200" y="4274462"/>
            <a:ext cx="1066800" cy="449938"/>
            <a:chOff x="838200" y="3429000"/>
            <a:chExt cx="1066800" cy="449938"/>
          </a:xfrm>
        </p:grpSpPr>
        <p:sp>
          <p:nvSpPr>
            <p:cNvPr id="10" name="Rectangle 9"/>
            <p:cNvSpPr/>
            <p:nvPr/>
          </p:nvSpPr>
          <p:spPr>
            <a:xfrm>
              <a:off x="838200" y="3429000"/>
              <a:ext cx="1066800" cy="44993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057247" y="3469303"/>
              <a:ext cx="6287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User</a:t>
              </a:r>
              <a:endParaRPr lang="en-US" dirty="0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730361" y="2861964"/>
            <a:ext cx="3613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 smtClean="0"/>
              <a:t>-  Search information of employee</a:t>
            </a:r>
            <a:endParaRPr lang="en-US" dirty="0"/>
          </a:p>
        </p:txBody>
      </p:sp>
      <p:grpSp>
        <p:nvGrpSpPr>
          <p:cNvPr id="19" name="Group 18"/>
          <p:cNvGrpSpPr/>
          <p:nvPr/>
        </p:nvGrpSpPr>
        <p:grpSpPr>
          <a:xfrm>
            <a:off x="4362450" y="4107538"/>
            <a:ext cx="1352550" cy="693062"/>
            <a:chOff x="2838450" y="3878938"/>
            <a:chExt cx="1352550" cy="693062"/>
          </a:xfrm>
        </p:grpSpPr>
        <p:sp>
          <p:nvSpPr>
            <p:cNvPr id="15" name="Oval 14"/>
            <p:cNvSpPr/>
            <p:nvPr/>
          </p:nvSpPr>
          <p:spPr>
            <a:xfrm>
              <a:off x="2838450" y="3878938"/>
              <a:ext cx="1352550" cy="693062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102178" y="4050268"/>
              <a:ext cx="8602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Search</a:t>
              </a:r>
              <a:endParaRPr lang="en-US" dirty="0"/>
            </a:p>
          </p:txBody>
        </p:sp>
      </p:grpSp>
      <p:cxnSp>
        <p:nvCxnSpPr>
          <p:cNvPr id="22" name="Straight Arrow Connector 21"/>
          <p:cNvCxnSpPr/>
          <p:nvPr/>
        </p:nvCxnSpPr>
        <p:spPr>
          <a:xfrm flipV="1">
            <a:off x="5029200" y="4800600"/>
            <a:ext cx="0" cy="7620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/>
          <p:cNvGrpSpPr/>
          <p:nvPr/>
        </p:nvGrpSpPr>
        <p:grpSpPr>
          <a:xfrm>
            <a:off x="4038600" y="5562600"/>
            <a:ext cx="1981200" cy="533400"/>
            <a:chOff x="2514600" y="5562600"/>
            <a:chExt cx="1981200" cy="533400"/>
          </a:xfrm>
        </p:grpSpPr>
        <p:grpSp>
          <p:nvGrpSpPr>
            <p:cNvPr id="28" name="Group 27"/>
            <p:cNvGrpSpPr/>
            <p:nvPr/>
          </p:nvGrpSpPr>
          <p:grpSpPr>
            <a:xfrm>
              <a:off x="2514600" y="5562600"/>
              <a:ext cx="1981200" cy="533400"/>
              <a:chOff x="2514600" y="5562600"/>
              <a:chExt cx="1981200" cy="533400"/>
            </a:xfrm>
          </p:grpSpPr>
          <p:cxnSp>
            <p:nvCxnSpPr>
              <p:cNvPr id="26" name="Straight Connector 25"/>
              <p:cNvCxnSpPr/>
              <p:nvPr/>
            </p:nvCxnSpPr>
            <p:spPr>
              <a:xfrm>
                <a:off x="2514600" y="5562600"/>
                <a:ext cx="1981200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2514600" y="6096000"/>
                <a:ext cx="1981200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TextBox 28"/>
            <p:cNvSpPr txBox="1"/>
            <p:nvPr/>
          </p:nvSpPr>
          <p:spPr>
            <a:xfrm>
              <a:off x="2714828" y="5624730"/>
              <a:ext cx="1704772" cy="377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Table Employee</a:t>
              </a:r>
              <a:endParaRPr lang="en-US" dirty="0"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1905000" y="4126468"/>
            <a:ext cx="2590800" cy="674132"/>
            <a:chOff x="1905000" y="4114800"/>
            <a:chExt cx="2590800" cy="674132"/>
          </a:xfrm>
        </p:grpSpPr>
        <p:cxnSp>
          <p:nvCxnSpPr>
            <p:cNvPr id="21" name="Straight Arrow Connector 20"/>
            <p:cNvCxnSpPr>
              <a:stCxn id="10" idx="3"/>
            </p:cNvCxnSpPr>
            <p:nvPr/>
          </p:nvCxnSpPr>
          <p:spPr>
            <a:xfrm>
              <a:off x="1905000" y="4487763"/>
              <a:ext cx="2438400" cy="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" name="Group 33"/>
            <p:cNvGrpSpPr/>
            <p:nvPr/>
          </p:nvGrpSpPr>
          <p:grpSpPr>
            <a:xfrm>
              <a:off x="2667000" y="4114800"/>
              <a:ext cx="1828800" cy="674132"/>
              <a:chOff x="2667000" y="4114800"/>
              <a:chExt cx="1828800" cy="674132"/>
            </a:xfrm>
          </p:grpSpPr>
          <p:sp>
            <p:nvSpPr>
              <p:cNvPr id="31" name="TextBox 30"/>
              <p:cNvSpPr txBox="1"/>
              <p:nvPr/>
            </p:nvSpPr>
            <p:spPr>
              <a:xfrm>
                <a:off x="2667000" y="4114800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Employee </a:t>
                </a:r>
                <a:endParaRPr lang="en-US" dirty="0"/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2971800" y="4419600"/>
                <a:ext cx="7349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info</a:t>
                </a:r>
                <a:endParaRPr lang="en-US" dirty="0"/>
              </a:p>
            </p:txBody>
          </p:sp>
        </p:grpSp>
      </p:grpSp>
      <p:pic>
        <p:nvPicPr>
          <p:cNvPr id="33" name="Picture 3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915" y="1955630"/>
            <a:ext cx="838285" cy="838285"/>
          </a:xfrm>
          <a:prstGeom prst="rect">
            <a:avLst/>
          </a:prstGeom>
        </p:spPr>
      </p:pic>
      <p:grpSp>
        <p:nvGrpSpPr>
          <p:cNvPr id="36" name="Group 35"/>
          <p:cNvGrpSpPr/>
          <p:nvPr/>
        </p:nvGrpSpPr>
        <p:grpSpPr>
          <a:xfrm>
            <a:off x="6629400" y="3733800"/>
            <a:ext cx="1905000" cy="1302662"/>
            <a:chOff x="2838450" y="3878938"/>
            <a:chExt cx="1352550" cy="693062"/>
          </a:xfrm>
        </p:grpSpPr>
        <p:sp>
          <p:nvSpPr>
            <p:cNvPr id="37" name="Oval 36"/>
            <p:cNvSpPr/>
            <p:nvPr/>
          </p:nvSpPr>
          <p:spPr>
            <a:xfrm>
              <a:off x="2838450" y="3878938"/>
              <a:ext cx="1352550" cy="693062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052585" y="3976201"/>
              <a:ext cx="976109" cy="4640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Display Employee Information</a:t>
              </a:r>
              <a:endParaRPr lang="en-US" dirty="0"/>
            </a:p>
          </p:txBody>
        </p:sp>
      </p:grpSp>
      <p:cxnSp>
        <p:nvCxnSpPr>
          <p:cNvPr id="39" name="Straight Arrow Connector 38"/>
          <p:cNvCxnSpPr/>
          <p:nvPr/>
        </p:nvCxnSpPr>
        <p:spPr>
          <a:xfrm flipV="1">
            <a:off x="5715000" y="4476234"/>
            <a:ext cx="914400" cy="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/>
          <p:cNvGrpSpPr/>
          <p:nvPr/>
        </p:nvGrpSpPr>
        <p:grpSpPr>
          <a:xfrm>
            <a:off x="1371600" y="3505200"/>
            <a:ext cx="3667125" cy="809564"/>
            <a:chOff x="1371600" y="3505200"/>
            <a:chExt cx="3667125" cy="809564"/>
          </a:xfrm>
        </p:grpSpPr>
        <p:cxnSp>
          <p:nvCxnSpPr>
            <p:cNvPr id="43" name="Elbow Connector 42"/>
            <p:cNvCxnSpPr>
              <a:stCxn id="15" idx="0"/>
              <a:endCxn id="11" idx="0"/>
            </p:cNvCxnSpPr>
            <p:nvPr/>
          </p:nvCxnSpPr>
          <p:spPr>
            <a:xfrm rot="16200000" flipH="1" flipV="1">
              <a:off x="3101549" y="2377588"/>
              <a:ext cx="207227" cy="3667125"/>
            </a:xfrm>
            <a:prstGeom prst="bentConnector3">
              <a:avLst>
                <a:gd name="adj1" fmla="val -110314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2590800" y="3505200"/>
              <a:ext cx="11753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Not Found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67095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3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1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2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5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3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492875"/>
            <a:ext cx="381000" cy="365125"/>
          </a:xfrm>
        </p:spPr>
        <p:txBody>
          <a:bodyPr/>
          <a:lstStyle/>
          <a:p>
            <a:fld id="{344FD16A-E3FF-4CFC-B3EE-A6F7727BED3D}" type="slidenum">
              <a:rPr lang="en-US" sz="2000" smtClean="0">
                <a:solidFill>
                  <a:schemeClr val="bg1"/>
                </a:solidFill>
                <a:latin typeface="Duepuntozero" pitchFamily="2" charset="0"/>
              </a:rPr>
              <a:t>15</a:t>
            </a:fld>
            <a:endParaRPr lang="en-US" sz="2000" dirty="0">
              <a:solidFill>
                <a:schemeClr val="bg1"/>
              </a:solidFill>
              <a:latin typeface="Duepuntozero" pitchFamily="2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28600" y="0"/>
            <a:ext cx="8642757" cy="6519626"/>
            <a:chOff x="228600" y="15875"/>
            <a:chExt cx="8642757" cy="6519626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600" y="15875"/>
              <a:ext cx="5219700" cy="1238250"/>
            </a:xfrm>
            <a:prstGeom prst="rect">
              <a:avLst/>
            </a:prstGeom>
          </p:spPr>
        </p:pic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000" y="1254125"/>
              <a:ext cx="8490357" cy="5281376"/>
            </a:xfrm>
            <a:prstGeom prst="rect">
              <a:avLst/>
            </a:prstGeom>
          </p:spPr>
        </p:pic>
      </p:grpSp>
      <p:sp>
        <p:nvSpPr>
          <p:cNvPr id="3" name="TextBox 2"/>
          <p:cNvSpPr txBox="1"/>
          <p:nvPr/>
        </p:nvSpPr>
        <p:spPr>
          <a:xfrm>
            <a:off x="7543800" y="209490"/>
            <a:ext cx="1181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Bahamas" pitchFamily="2" charset="0"/>
              </a:rPr>
              <a:t>Group</a:t>
            </a:r>
            <a:r>
              <a:rPr lang="en-US" dirty="0" smtClean="0">
                <a:solidFill>
                  <a:schemeClr val="bg1"/>
                </a:solidFill>
                <a:latin typeface="Bahamas" pitchFamily="2" charset="0"/>
              </a:rPr>
              <a:t> 10</a:t>
            </a:r>
            <a:endParaRPr lang="en-US" dirty="0">
              <a:solidFill>
                <a:schemeClr val="bg1"/>
              </a:solidFill>
              <a:latin typeface="Bahamas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7800" y="1371600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</a:t>
            </a:r>
            <a:r>
              <a:rPr lang="en-US" sz="2800" dirty="0" smtClean="0"/>
              <a:t>II</a:t>
            </a:r>
            <a:r>
              <a:rPr lang="en-US" sz="3600" dirty="0" smtClean="0"/>
              <a:t>. </a:t>
            </a:r>
            <a:r>
              <a:rPr lang="en-US" sz="2800" dirty="0"/>
              <a:t>Database </a:t>
            </a:r>
            <a:r>
              <a:rPr lang="en-US" sz="2800" dirty="0" smtClean="0"/>
              <a:t>Design Continue</a:t>
            </a:r>
            <a:endParaRPr lang="en-US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2301289" y="2286000"/>
            <a:ext cx="3261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dirty="0"/>
              <a:t> </a:t>
            </a:r>
            <a:r>
              <a:rPr lang="en-US" sz="2400" dirty="0" smtClean="0"/>
              <a:t> Data Flow Continue</a:t>
            </a:r>
            <a:endParaRPr lang="en-US" sz="24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611" y="1219200"/>
            <a:ext cx="799989" cy="799989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838200" y="4274462"/>
            <a:ext cx="1066800" cy="449938"/>
            <a:chOff x="838200" y="3429000"/>
            <a:chExt cx="1066800" cy="449938"/>
          </a:xfrm>
        </p:grpSpPr>
        <p:sp>
          <p:nvSpPr>
            <p:cNvPr id="10" name="Rectangle 9"/>
            <p:cNvSpPr/>
            <p:nvPr/>
          </p:nvSpPr>
          <p:spPr>
            <a:xfrm>
              <a:off x="838200" y="3429000"/>
              <a:ext cx="1066800" cy="44993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057247" y="3469303"/>
              <a:ext cx="6287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User</a:t>
              </a:r>
              <a:endParaRPr lang="en-US" dirty="0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730361" y="2861964"/>
            <a:ext cx="3613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 smtClean="0"/>
              <a:t>-  Search information of employee</a:t>
            </a:r>
            <a:endParaRPr lang="en-US" dirty="0"/>
          </a:p>
        </p:txBody>
      </p:sp>
      <p:grpSp>
        <p:nvGrpSpPr>
          <p:cNvPr id="19" name="Group 18"/>
          <p:cNvGrpSpPr/>
          <p:nvPr/>
        </p:nvGrpSpPr>
        <p:grpSpPr>
          <a:xfrm>
            <a:off x="4362450" y="4107538"/>
            <a:ext cx="1352550" cy="693062"/>
            <a:chOff x="2838450" y="3878938"/>
            <a:chExt cx="1352550" cy="693062"/>
          </a:xfrm>
        </p:grpSpPr>
        <p:sp>
          <p:nvSpPr>
            <p:cNvPr id="15" name="Oval 14"/>
            <p:cNvSpPr/>
            <p:nvPr/>
          </p:nvSpPr>
          <p:spPr>
            <a:xfrm>
              <a:off x="2838450" y="3878938"/>
              <a:ext cx="1352550" cy="693062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102178" y="4050268"/>
              <a:ext cx="8602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Search</a:t>
              </a:r>
              <a:endParaRPr lang="en-US" dirty="0"/>
            </a:p>
          </p:txBody>
        </p:sp>
      </p:grpSp>
      <p:cxnSp>
        <p:nvCxnSpPr>
          <p:cNvPr id="22" name="Straight Arrow Connector 21"/>
          <p:cNvCxnSpPr/>
          <p:nvPr/>
        </p:nvCxnSpPr>
        <p:spPr>
          <a:xfrm flipV="1">
            <a:off x="5029200" y="4800600"/>
            <a:ext cx="0" cy="7620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/>
          <p:cNvGrpSpPr/>
          <p:nvPr/>
        </p:nvGrpSpPr>
        <p:grpSpPr>
          <a:xfrm>
            <a:off x="4038600" y="5562600"/>
            <a:ext cx="1981200" cy="533400"/>
            <a:chOff x="2514600" y="5562600"/>
            <a:chExt cx="1981200" cy="533400"/>
          </a:xfrm>
        </p:grpSpPr>
        <p:grpSp>
          <p:nvGrpSpPr>
            <p:cNvPr id="28" name="Group 27"/>
            <p:cNvGrpSpPr/>
            <p:nvPr/>
          </p:nvGrpSpPr>
          <p:grpSpPr>
            <a:xfrm>
              <a:off x="2514600" y="5562600"/>
              <a:ext cx="1981200" cy="533400"/>
              <a:chOff x="2514600" y="5562600"/>
              <a:chExt cx="1981200" cy="533400"/>
            </a:xfrm>
          </p:grpSpPr>
          <p:cxnSp>
            <p:nvCxnSpPr>
              <p:cNvPr id="26" name="Straight Connector 25"/>
              <p:cNvCxnSpPr/>
              <p:nvPr/>
            </p:nvCxnSpPr>
            <p:spPr>
              <a:xfrm>
                <a:off x="2514600" y="5562600"/>
                <a:ext cx="1981200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2514600" y="6096000"/>
                <a:ext cx="1981200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TextBox 28"/>
            <p:cNvSpPr txBox="1"/>
            <p:nvPr/>
          </p:nvSpPr>
          <p:spPr>
            <a:xfrm>
              <a:off x="2714828" y="5624730"/>
              <a:ext cx="1704772" cy="377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Table Employee</a:t>
              </a:r>
              <a:endParaRPr lang="en-US" dirty="0"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1905000" y="4126468"/>
            <a:ext cx="2590800" cy="674132"/>
            <a:chOff x="1905000" y="4114800"/>
            <a:chExt cx="2590800" cy="674132"/>
          </a:xfrm>
        </p:grpSpPr>
        <p:cxnSp>
          <p:nvCxnSpPr>
            <p:cNvPr id="21" name="Straight Arrow Connector 20"/>
            <p:cNvCxnSpPr>
              <a:stCxn id="10" idx="3"/>
            </p:cNvCxnSpPr>
            <p:nvPr/>
          </p:nvCxnSpPr>
          <p:spPr>
            <a:xfrm>
              <a:off x="1905000" y="4487763"/>
              <a:ext cx="2438400" cy="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" name="Group 33"/>
            <p:cNvGrpSpPr/>
            <p:nvPr/>
          </p:nvGrpSpPr>
          <p:grpSpPr>
            <a:xfrm>
              <a:off x="2667000" y="4114800"/>
              <a:ext cx="1828800" cy="674132"/>
              <a:chOff x="2667000" y="4114800"/>
              <a:chExt cx="1828800" cy="674132"/>
            </a:xfrm>
          </p:grpSpPr>
          <p:sp>
            <p:nvSpPr>
              <p:cNvPr id="31" name="TextBox 30"/>
              <p:cNvSpPr txBox="1"/>
              <p:nvPr/>
            </p:nvSpPr>
            <p:spPr>
              <a:xfrm>
                <a:off x="2667000" y="4114800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Employee </a:t>
                </a:r>
                <a:endParaRPr lang="en-US" dirty="0"/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2971800" y="4419600"/>
                <a:ext cx="7349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info</a:t>
                </a:r>
                <a:endParaRPr lang="en-US" dirty="0"/>
              </a:p>
            </p:txBody>
          </p:sp>
        </p:grpSp>
      </p:grpSp>
      <p:pic>
        <p:nvPicPr>
          <p:cNvPr id="33" name="Picture 3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915" y="1955630"/>
            <a:ext cx="838285" cy="838285"/>
          </a:xfrm>
          <a:prstGeom prst="rect">
            <a:avLst/>
          </a:prstGeom>
        </p:spPr>
      </p:pic>
      <p:cxnSp>
        <p:nvCxnSpPr>
          <p:cNvPr id="39" name="Straight Arrow Connector 38"/>
          <p:cNvCxnSpPr/>
          <p:nvPr/>
        </p:nvCxnSpPr>
        <p:spPr>
          <a:xfrm flipV="1">
            <a:off x="5715000" y="4476234"/>
            <a:ext cx="914400" cy="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/>
          <p:cNvGrpSpPr/>
          <p:nvPr/>
        </p:nvGrpSpPr>
        <p:grpSpPr>
          <a:xfrm>
            <a:off x="1371600" y="3505200"/>
            <a:ext cx="3667125" cy="809564"/>
            <a:chOff x="1371600" y="3505200"/>
            <a:chExt cx="3667125" cy="809564"/>
          </a:xfrm>
        </p:grpSpPr>
        <p:cxnSp>
          <p:nvCxnSpPr>
            <p:cNvPr id="43" name="Elbow Connector 42"/>
            <p:cNvCxnSpPr>
              <a:stCxn id="15" idx="0"/>
              <a:endCxn id="11" idx="0"/>
            </p:cNvCxnSpPr>
            <p:nvPr/>
          </p:nvCxnSpPr>
          <p:spPr>
            <a:xfrm rot="16200000" flipH="1" flipV="1">
              <a:off x="3101549" y="2377588"/>
              <a:ext cx="207227" cy="3667125"/>
            </a:xfrm>
            <a:prstGeom prst="bentConnector3">
              <a:avLst>
                <a:gd name="adj1" fmla="val -110314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2590800" y="3505200"/>
              <a:ext cx="11753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Not Found</a:t>
              </a:r>
              <a:endParaRPr lang="en-US" dirty="0"/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6629400" y="4149269"/>
            <a:ext cx="1352550" cy="693062"/>
            <a:chOff x="2838450" y="3878938"/>
            <a:chExt cx="1352550" cy="693062"/>
          </a:xfrm>
        </p:grpSpPr>
        <p:sp>
          <p:nvSpPr>
            <p:cNvPr id="41" name="Oval 40"/>
            <p:cNvSpPr/>
            <p:nvPr/>
          </p:nvSpPr>
          <p:spPr>
            <a:xfrm>
              <a:off x="2838450" y="3878938"/>
              <a:ext cx="1352550" cy="693062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102178" y="4050268"/>
              <a:ext cx="8602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Delete</a:t>
              </a:r>
              <a:endParaRPr lang="en-US" dirty="0"/>
            </a:p>
          </p:txBody>
        </p:sp>
      </p:grpSp>
      <p:cxnSp>
        <p:nvCxnSpPr>
          <p:cNvPr id="8" name="Elbow Connector 7"/>
          <p:cNvCxnSpPr>
            <a:stCxn id="41" idx="4"/>
          </p:cNvCxnSpPr>
          <p:nvPr/>
        </p:nvCxnSpPr>
        <p:spPr>
          <a:xfrm rot="5400000">
            <a:off x="6215289" y="4723043"/>
            <a:ext cx="971098" cy="1209675"/>
          </a:xfrm>
          <a:prstGeom prst="bentConnector2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2346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3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1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2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5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3" grpId="0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492875"/>
            <a:ext cx="381000" cy="365125"/>
          </a:xfrm>
        </p:spPr>
        <p:txBody>
          <a:bodyPr/>
          <a:lstStyle/>
          <a:p>
            <a:fld id="{344FD16A-E3FF-4CFC-B3EE-A6F7727BED3D}" type="slidenum">
              <a:rPr lang="en-US" sz="2000" smtClean="0">
                <a:solidFill>
                  <a:schemeClr val="bg1"/>
                </a:solidFill>
                <a:latin typeface="Duepuntozero" pitchFamily="2" charset="0"/>
              </a:rPr>
              <a:t>16</a:t>
            </a:fld>
            <a:endParaRPr lang="en-US" sz="2000" dirty="0">
              <a:solidFill>
                <a:schemeClr val="bg1"/>
              </a:solidFill>
              <a:latin typeface="Duepuntozero" pitchFamily="2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28600" y="0"/>
            <a:ext cx="8642757" cy="6519626"/>
            <a:chOff x="228600" y="15875"/>
            <a:chExt cx="8642757" cy="6519626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600" y="15875"/>
              <a:ext cx="5219700" cy="1238250"/>
            </a:xfrm>
            <a:prstGeom prst="rect">
              <a:avLst/>
            </a:prstGeom>
          </p:spPr>
        </p:pic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000" y="1254125"/>
              <a:ext cx="8490357" cy="5281376"/>
            </a:xfrm>
            <a:prstGeom prst="rect">
              <a:avLst/>
            </a:prstGeom>
          </p:spPr>
        </p:pic>
      </p:grpSp>
      <p:sp>
        <p:nvSpPr>
          <p:cNvPr id="3" name="TextBox 2"/>
          <p:cNvSpPr txBox="1"/>
          <p:nvPr/>
        </p:nvSpPr>
        <p:spPr>
          <a:xfrm>
            <a:off x="7543800" y="209490"/>
            <a:ext cx="1181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Bahamas" pitchFamily="2" charset="0"/>
              </a:rPr>
              <a:t>Group</a:t>
            </a:r>
            <a:r>
              <a:rPr lang="en-US" dirty="0" smtClean="0">
                <a:solidFill>
                  <a:schemeClr val="bg1"/>
                </a:solidFill>
                <a:latin typeface="Bahamas" pitchFamily="2" charset="0"/>
              </a:rPr>
              <a:t> 10</a:t>
            </a:r>
            <a:endParaRPr lang="en-US" dirty="0">
              <a:solidFill>
                <a:schemeClr val="bg1"/>
              </a:solidFill>
              <a:latin typeface="Bahamas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7800" y="1371600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</a:t>
            </a:r>
            <a:r>
              <a:rPr lang="en-US" sz="2800" dirty="0" smtClean="0"/>
              <a:t>II</a:t>
            </a:r>
            <a:r>
              <a:rPr lang="en-US" sz="3600" dirty="0" smtClean="0"/>
              <a:t>. </a:t>
            </a:r>
            <a:r>
              <a:rPr lang="en-US" sz="2800" dirty="0"/>
              <a:t>Database </a:t>
            </a:r>
            <a:r>
              <a:rPr lang="en-US" sz="2800" dirty="0" smtClean="0"/>
              <a:t>Design Continue</a:t>
            </a:r>
            <a:endParaRPr lang="en-US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2301289" y="2286000"/>
            <a:ext cx="40995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dirty="0"/>
              <a:t> </a:t>
            </a:r>
            <a:r>
              <a:rPr lang="en-US" sz="2400" dirty="0" smtClean="0"/>
              <a:t> Entity Relational Diagram</a:t>
            </a:r>
            <a:endParaRPr lang="en-US" sz="24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611" y="1219200"/>
            <a:ext cx="799989" cy="79998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234" y="1981200"/>
            <a:ext cx="870551" cy="870551"/>
          </a:xfrm>
          <a:prstGeom prst="rect">
            <a:avLst/>
          </a:prstGeom>
        </p:spPr>
      </p:pic>
      <p:grpSp>
        <p:nvGrpSpPr>
          <p:cNvPr id="38" name="Group 37"/>
          <p:cNvGrpSpPr/>
          <p:nvPr/>
        </p:nvGrpSpPr>
        <p:grpSpPr>
          <a:xfrm>
            <a:off x="571611" y="3588662"/>
            <a:ext cx="1066801" cy="449938"/>
            <a:chOff x="838200" y="3429000"/>
            <a:chExt cx="1066801" cy="449938"/>
          </a:xfrm>
        </p:grpSpPr>
        <p:sp>
          <p:nvSpPr>
            <p:cNvPr id="46" name="Rectangle 45"/>
            <p:cNvSpPr/>
            <p:nvPr/>
          </p:nvSpPr>
          <p:spPr>
            <a:xfrm>
              <a:off x="838200" y="3429000"/>
              <a:ext cx="1066800" cy="44993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38201" y="3494961"/>
              <a:ext cx="10668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/>
                <a:t>Employee</a:t>
              </a:r>
              <a:endParaRPr lang="en-US" sz="1600" dirty="0"/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7620000" y="3581400"/>
            <a:ext cx="1066800" cy="457200"/>
            <a:chOff x="838200" y="3497938"/>
            <a:chExt cx="1066800" cy="457200"/>
          </a:xfrm>
        </p:grpSpPr>
        <p:sp>
          <p:nvSpPr>
            <p:cNvPr id="49" name="Rectangle 48"/>
            <p:cNvSpPr/>
            <p:nvPr/>
          </p:nvSpPr>
          <p:spPr>
            <a:xfrm>
              <a:off x="838200" y="3505200"/>
              <a:ext cx="1066800" cy="44993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38200" y="3497938"/>
              <a:ext cx="10667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Doctor</a:t>
              </a:r>
              <a:endParaRPr lang="en-US" dirty="0"/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3962400" y="3588662"/>
            <a:ext cx="1066800" cy="449938"/>
            <a:chOff x="838200" y="3429000"/>
            <a:chExt cx="1066800" cy="449938"/>
          </a:xfrm>
        </p:grpSpPr>
        <p:sp>
          <p:nvSpPr>
            <p:cNvPr id="52" name="Rectangle 51"/>
            <p:cNvSpPr/>
            <p:nvPr/>
          </p:nvSpPr>
          <p:spPr>
            <a:xfrm>
              <a:off x="838200" y="3429000"/>
              <a:ext cx="1066800" cy="44993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904848" y="3469303"/>
              <a:ext cx="8477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Patient</a:t>
              </a:r>
              <a:endParaRPr lang="en-US" dirty="0"/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571611" y="5569862"/>
            <a:ext cx="1561989" cy="449938"/>
            <a:chOff x="838200" y="3429000"/>
            <a:chExt cx="1066801" cy="449938"/>
          </a:xfrm>
        </p:grpSpPr>
        <p:sp>
          <p:nvSpPr>
            <p:cNvPr id="55" name="Rectangle 54"/>
            <p:cNvSpPr/>
            <p:nvPr/>
          </p:nvSpPr>
          <p:spPr>
            <a:xfrm>
              <a:off x="838200" y="3429000"/>
              <a:ext cx="1066800" cy="44993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838201" y="3469303"/>
              <a:ext cx="1066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 smtClean="0"/>
                <a:t>UserAccount</a:t>
              </a:r>
              <a:endParaRPr lang="en-US" dirty="0"/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3810000" y="5529559"/>
            <a:ext cx="1447800" cy="449938"/>
            <a:chOff x="838200" y="3429000"/>
            <a:chExt cx="1066800" cy="449938"/>
          </a:xfrm>
        </p:grpSpPr>
        <p:sp>
          <p:nvSpPr>
            <p:cNvPr id="58" name="Rectangle 57"/>
            <p:cNvSpPr/>
            <p:nvPr/>
          </p:nvSpPr>
          <p:spPr>
            <a:xfrm>
              <a:off x="838200" y="3429000"/>
              <a:ext cx="1066800" cy="44993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838200" y="3469303"/>
              <a:ext cx="1066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Appointment</a:t>
              </a:r>
              <a:endParaRPr lang="en-US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2209800" y="3581400"/>
            <a:ext cx="1066800" cy="533400"/>
            <a:chOff x="2133600" y="4343400"/>
            <a:chExt cx="1066800" cy="533400"/>
          </a:xfrm>
        </p:grpSpPr>
        <p:sp>
          <p:nvSpPr>
            <p:cNvPr id="17" name="Diamond 16"/>
            <p:cNvSpPr/>
            <p:nvPr/>
          </p:nvSpPr>
          <p:spPr>
            <a:xfrm>
              <a:off x="2133600" y="4343400"/>
              <a:ext cx="1066800" cy="533400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209799" y="4456211"/>
              <a:ext cx="9144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/>
                <a:t>Payment</a:t>
              </a:r>
              <a:endParaRPr lang="en-US" sz="1400" dirty="0"/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571612" y="4572000"/>
            <a:ext cx="1066800" cy="533400"/>
            <a:chOff x="2133600" y="4343400"/>
            <a:chExt cx="1066800" cy="533400"/>
          </a:xfrm>
        </p:grpSpPr>
        <p:sp>
          <p:nvSpPr>
            <p:cNvPr id="61" name="Diamond 60"/>
            <p:cNvSpPr/>
            <p:nvPr/>
          </p:nvSpPr>
          <p:spPr>
            <a:xfrm>
              <a:off x="2133600" y="4343400"/>
              <a:ext cx="1066800" cy="533400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2209799" y="4456211"/>
              <a:ext cx="9144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/>
                <a:t>Login</a:t>
              </a:r>
              <a:endParaRPr lang="en-US" sz="1400" dirty="0"/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5791200" y="3557199"/>
            <a:ext cx="1066800" cy="533400"/>
            <a:chOff x="2133600" y="4343400"/>
            <a:chExt cx="1066800" cy="533400"/>
          </a:xfrm>
        </p:grpSpPr>
        <p:sp>
          <p:nvSpPr>
            <p:cNvPr id="64" name="Diamond 63"/>
            <p:cNvSpPr/>
            <p:nvPr/>
          </p:nvSpPr>
          <p:spPr>
            <a:xfrm>
              <a:off x="2133600" y="4343400"/>
              <a:ext cx="1066800" cy="533400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209799" y="4456211"/>
              <a:ext cx="9906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/>
                <a:t>Treatment</a:t>
              </a:r>
              <a:endParaRPr lang="en-US" sz="1400" dirty="0"/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3962400" y="4459188"/>
            <a:ext cx="1066800" cy="533400"/>
            <a:chOff x="2133600" y="4343400"/>
            <a:chExt cx="1066800" cy="533400"/>
          </a:xfrm>
        </p:grpSpPr>
        <p:sp>
          <p:nvSpPr>
            <p:cNvPr id="67" name="Diamond 66"/>
            <p:cNvSpPr/>
            <p:nvPr/>
          </p:nvSpPr>
          <p:spPr>
            <a:xfrm>
              <a:off x="2133600" y="4343400"/>
              <a:ext cx="1066800" cy="533400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2209799" y="4456211"/>
              <a:ext cx="9906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/>
                <a:t>Treatment</a:t>
              </a:r>
              <a:endParaRPr lang="en-US" sz="1400" dirty="0"/>
            </a:p>
          </p:txBody>
        </p:sp>
      </p:grpSp>
      <p:cxnSp>
        <p:nvCxnSpPr>
          <p:cNvPr id="25" name="Straight Connector 24"/>
          <p:cNvCxnSpPr>
            <a:stCxn id="47" idx="3"/>
            <a:endCxn id="17" idx="1"/>
          </p:cNvCxnSpPr>
          <p:nvPr/>
        </p:nvCxnSpPr>
        <p:spPr>
          <a:xfrm>
            <a:off x="1638412" y="3823900"/>
            <a:ext cx="571388" cy="242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17" idx="3"/>
            <a:endCxn id="52" idx="1"/>
          </p:cNvCxnSpPr>
          <p:nvPr/>
        </p:nvCxnSpPr>
        <p:spPr>
          <a:xfrm flipV="1">
            <a:off x="3276600" y="3813631"/>
            <a:ext cx="685800" cy="3446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52" idx="3"/>
            <a:endCxn id="64" idx="1"/>
          </p:cNvCxnSpPr>
          <p:nvPr/>
        </p:nvCxnSpPr>
        <p:spPr>
          <a:xfrm>
            <a:off x="5029200" y="3813631"/>
            <a:ext cx="762000" cy="1026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64" idx="3"/>
            <a:endCxn id="49" idx="1"/>
          </p:cNvCxnSpPr>
          <p:nvPr/>
        </p:nvCxnSpPr>
        <p:spPr>
          <a:xfrm flipV="1">
            <a:off x="6858000" y="3813631"/>
            <a:ext cx="762000" cy="1026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58" idx="0"/>
            <a:endCxn id="67" idx="2"/>
          </p:cNvCxnSpPr>
          <p:nvPr/>
        </p:nvCxnSpPr>
        <p:spPr>
          <a:xfrm flipH="1" flipV="1">
            <a:off x="4495800" y="4992588"/>
            <a:ext cx="38100" cy="53697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67" idx="0"/>
            <a:endCxn id="52" idx="2"/>
          </p:cNvCxnSpPr>
          <p:nvPr/>
        </p:nvCxnSpPr>
        <p:spPr>
          <a:xfrm flipV="1">
            <a:off x="4495800" y="4038600"/>
            <a:ext cx="0" cy="42058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 flipH="1" flipV="1">
            <a:off x="1105011" y="5073196"/>
            <a:ext cx="19050" cy="49666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 flipV="1">
            <a:off x="1092311" y="4038600"/>
            <a:ext cx="0" cy="5334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4785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3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1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2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5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492875"/>
            <a:ext cx="381000" cy="365125"/>
          </a:xfrm>
        </p:spPr>
        <p:txBody>
          <a:bodyPr/>
          <a:lstStyle/>
          <a:p>
            <a:fld id="{344FD16A-E3FF-4CFC-B3EE-A6F7727BED3D}" type="slidenum">
              <a:rPr lang="en-US" sz="2000" smtClean="0">
                <a:solidFill>
                  <a:schemeClr val="bg1"/>
                </a:solidFill>
                <a:latin typeface="Duepuntozero" pitchFamily="2" charset="0"/>
              </a:rPr>
              <a:t>17</a:t>
            </a:fld>
            <a:endParaRPr lang="en-US" sz="2000" dirty="0">
              <a:solidFill>
                <a:schemeClr val="bg1"/>
              </a:solidFill>
              <a:latin typeface="Duepuntozero" pitchFamily="2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28600" y="0"/>
            <a:ext cx="8642757" cy="6519626"/>
            <a:chOff x="228600" y="15875"/>
            <a:chExt cx="8642757" cy="6519626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600" y="15875"/>
              <a:ext cx="5219700" cy="1238250"/>
            </a:xfrm>
            <a:prstGeom prst="rect">
              <a:avLst/>
            </a:prstGeom>
          </p:spPr>
        </p:pic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000" y="1254125"/>
              <a:ext cx="8490357" cy="5281376"/>
            </a:xfrm>
            <a:prstGeom prst="rect">
              <a:avLst/>
            </a:prstGeom>
          </p:spPr>
        </p:pic>
      </p:grpSp>
      <p:sp>
        <p:nvSpPr>
          <p:cNvPr id="3" name="TextBox 2"/>
          <p:cNvSpPr txBox="1"/>
          <p:nvPr/>
        </p:nvSpPr>
        <p:spPr>
          <a:xfrm>
            <a:off x="7543800" y="209490"/>
            <a:ext cx="1181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Bahamas" pitchFamily="2" charset="0"/>
              </a:rPr>
              <a:t>Group</a:t>
            </a:r>
            <a:r>
              <a:rPr lang="en-US" dirty="0" smtClean="0">
                <a:solidFill>
                  <a:schemeClr val="bg1"/>
                </a:solidFill>
                <a:latin typeface="Bahamas" pitchFamily="2" charset="0"/>
              </a:rPr>
              <a:t> 10</a:t>
            </a:r>
            <a:endParaRPr lang="en-US" dirty="0">
              <a:solidFill>
                <a:schemeClr val="bg1"/>
              </a:solidFill>
              <a:latin typeface="Bahamas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0600" y="1182469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IV</a:t>
            </a:r>
            <a:r>
              <a:rPr lang="en-US" sz="3600" dirty="0" smtClean="0"/>
              <a:t>. </a:t>
            </a:r>
            <a:r>
              <a:rPr lang="en-US" sz="2800" dirty="0" smtClean="0"/>
              <a:t>Interface</a:t>
            </a:r>
            <a:endParaRPr lang="en-US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1752599" y="1873596"/>
            <a:ext cx="4099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/>
              <a:t> </a:t>
            </a:r>
            <a:r>
              <a:rPr lang="en-US" dirty="0" smtClean="0"/>
              <a:t> Add new patient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425240"/>
            <a:ext cx="5852110" cy="389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13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3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492875"/>
            <a:ext cx="381000" cy="365125"/>
          </a:xfrm>
        </p:spPr>
        <p:txBody>
          <a:bodyPr/>
          <a:lstStyle/>
          <a:p>
            <a:fld id="{344FD16A-E3FF-4CFC-B3EE-A6F7727BED3D}" type="slidenum">
              <a:rPr lang="en-US" sz="2000" smtClean="0">
                <a:solidFill>
                  <a:schemeClr val="bg1"/>
                </a:solidFill>
                <a:latin typeface="Duepuntozero" pitchFamily="2" charset="0"/>
              </a:rPr>
              <a:t>18</a:t>
            </a:fld>
            <a:endParaRPr lang="en-US" sz="2000" dirty="0">
              <a:solidFill>
                <a:schemeClr val="bg1"/>
              </a:solidFill>
              <a:latin typeface="Duepuntozero" pitchFamily="2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28600" y="0"/>
            <a:ext cx="8642757" cy="6519626"/>
            <a:chOff x="228600" y="15875"/>
            <a:chExt cx="8642757" cy="6519626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600" y="15875"/>
              <a:ext cx="5219700" cy="1238250"/>
            </a:xfrm>
            <a:prstGeom prst="rect">
              <a:avLst/>
            </a:prstGeom>
          </p:spPr>
        </p:pic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000" y="1254125"/>
              <a:ext cx="8490357" cy="5281376"/>
            </a:xfrm>
            <a:prstGeom prst="rect">
              <a:avLst/>
            </a:prstGeom>
          </p:spPr>
        </p:pic>
      </p:grpSp>
      <p:sp>
        <p:nvSpPr>
          <p:cNvPr id="3" name="TextBox 2"/>
          <p:cNvSpPr txBox="1"/>
          <p:nvPr/>
        </p:nvSpPr>
        <p:spPr>
          <a:xfrm>
            <a:off x="7543800" y="209490"/>
            <a:ext cx="1181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Bahamas" pitchFamily="2" charset="0"/>
              </a:rPr>
              <a:t>Group</a:t>
            </a:r>
            <a:r>
              <a:rPr lang="en-US" dirty="0" smtClean="0">
                <a:solidFill>
                  <a:schemeClr val="bg1"/>
                </a:solidFill>
                <a:latin typeface="Bahamas" pitchFamily="2" charset="0"/>
              </a:rPr>
              <a:t> 10</a:t>
            </a:r>
            <a:endParaRPr lang="en-US" dirty="0">
              <a:solidFill>
                <a:schemeClr val="bg1"/>
              </a:solidFill>
              <a:latin typeface="Bahamas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0600" y="1182469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IV</a:t>
            </a:r>
            <a:r>
              <a:rPr lang="en-US" sz="3600" dirty="0" smtClean="0"/>
              <a:t>. </a:t>
            </a:r>
            <a:r>
              <a:rPr lang="en-US" sz="2800" dirty="0" smtClean="0"/>
              <a:t>Interface</a:t>
            </a:r>
            <a:endParaRPr lang="en-US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1752599" y="1873596"/>
            <a:ext cx="4099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/>
              <a:t> </a:t>
            </a:r>
            <a:r>
              <a:rPr lang="en-US" dirty="0" smtClean="0"/>
              <a:t> Add new payment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321905"/>
            <a:ext cx="6019800" cy="400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776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3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492875"/>
            <a:ext cx="381000" cy="365125"/>
          </a:xfrm>
        </p:spPr>
        <p:txBody>
          <a:bodyPr/>
          <a:lstStyle/>
          <a:p>
            <a:fld id="{344FD16A-E3FF-4CFC-B3EE-A6F7727BED3D}" type="slidenum">
              <a:rPr lang="en-US" sz="2000" smtClean="0">
                <a:solidFill>
                  <a:schemeClr val="bg1"/>
                </a:solidFill>
                <a:latin typeface="Duepuntozero" pitchFamily="2" charset="0"/>
              </a:rPr>
              <a:t>19</a:t>
            </a:fld>
            <a:endParaRPr lang="en-US" sz="2000" dirty="0">
              <a:solidFill>
                <a:schemeClr val="bg1"/>
              </a:solidFill>
              <a:latin typeface="Duepuntozero" pitchFamily="2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28600" y="0"/>
            <a:ext cx="8642757" cy="6519626"/>
            <a:chOff x="228600" y="15875"/>
            <a:chExt cx="8642757" cy="6519626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600" y="15875"/>
              <a:ext cx="5219700" cy="1238250"/>
            </a:xfrm>
            <a:prstGeom prst="rect">
              <a:avLst/>
            </a:prstGeom>
          </p:spPr>
        </p:pic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000" y="1254125"/>
              <a:ext cx="8490357" cy="5281376"/>
            </a:xfrm>
            <a:prstGeom prst="rect">
              <a:avLst/>
            </a:prstGeom>
          </p:spPr>
        </p:pic>
      </p:grpSp>
      <p:sp>
        <p:nvSpPr>
          <p:cNvPr id="3" name="TextBox 2"/>
          <p:cNvSpPr txBox="1"/>
          <p:nvPr/>
        </p:nvSpPr>
        <p:spPr>
          <a:xfrm>
            <a:off x="7543800" y="209490"/>
            <a:ext cx="1181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Bahamas" pitchFamily="2" charset="0"/>
              </a:rPr>
              <a:t>Group</a:t>
            </a:r>
            <a:r>
              <a:rPr lang="en-US" dirty="0" smtClean="0">
                <a:solidFill>
                  <a:schemeClr val="bg1"/>
                </a:solidFill>
                <a:latin typeface="Bahamas" pitchFamily="2" charset="0"/>
              </a:rPr>
              <a:t> 10</a:t>
            </a:r>
            <a:endParaRPr lang="en-US" dirty="0">
              <a:solidFill>
                <a:schemeClr val="bg1"/>
              </a:solidFill>
              <a:latin typeface="Bahamas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0600" y="1182469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IV</a:t>
            </a:r>
            <a:r>
              <a:rPr lang="en-US" sz="3600" dirty="0" smtClean="0"/>
              <a:t>. </a:t>
            </a:r>
            <a:r>
              <a:rPr lang="en-US" sz="2800" dirty="0" smtClean="0"/>
              <a:t>Interface</a:t>
            </a:r>
            <a:endParaRPr lang="en-US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1752599" y="1873596"/>
            <a:ext cx="4099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/>
              <a:t> </a:t>
            </a:r>
            <a:r>
              <a:rPr lang="en-US" dirty="0" smtClean="0"/>
              <a:t> View user account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362200"/>
            <a:ext cx="5943600" cy="3972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314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3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492875"/>
            <a:ext cx="381000" cy="365125"/>
          </a:xfrm>
        </p:spPr>
        <p:txBody>
          <a:bodyPr/>
          <a:lstStyle/>
          <a:p>
            <a:fld id="{344FD16A-E3FF-4CFC-B3EE-A6F7727BED3D}" type="slidenum">
              <a:rPr lang="en-US" sz="2000" smtClean="0">
                <a:solidFill>
                  <a:schemeClr val="bg1"/>
                </a:solidFill>
                <a:latin typeface="Duepuntozero" pitchFamily="2" charset="0"/>
              </a:rPr>
              <a:t>20</a:t>
            </a:fld>
            <a:endParaRPr lang="en-US" sz="2000" dirty="0">
              <a:solidFill>
                <a:schemeClr val="bg1"/>
              </a:solidFill>
              <a:latin typeface="Duepuntozero" pitchFamily="2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28600" y="0"/>
            <a:ext cx="8642757" cy="6519626"/>
            <a:chOff x="228600" y="15875"/>
            <a:chExt cx="8642757" cy="6519626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600" y="15875"/>
              <a:ext cx="5219700" cy="1238250"/>
            </a:xfrm>
            <a:prstGeom prst="rect">
              <a:avLst/>
            </a:prstGeom>
          </p:spPr>
        </p:pic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000" y="1254125"/>
              <a:ext cx="8490357" cy="5281376"/>
            </a:xfrm>
            <a:prstGeom prst="rect">
              <a:avLst/>
            </a:prstGeom>
          </p:spPr>
        </p:pic>
      </p:grpSp>
      <p:sp>
        <p:nvSpPr>
          <p:cNvPr id="3" name="TextBox 2"/>
          <p:cNvSpPr txBox="1"/>
          <p:nvPr/>
        </p:nvSpPr>
        <p:spPr>
          <a:xfrm>
            <a:off x="7543800" y="209490"/>
            <a:ext cx="1181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Bahamas" pitchFamily="2" charset="0"/>
              </a:rPr>
              <a:t>Group</a:t>
            </a:r>
            <a:r>
              <a:rPr lang="en-US" dirty="0" smtClean="0">
                <a:solidFill>
                  <a:schemeClr val="bg1"/>
                </a:solidFill>
                <a:latin typeface="Bahamas" pitchFamily="2" charset="0"/>
              </a:rPr>
              <a:t> 10</a:t>
            </a:r>
            <a:endParaRPr lang="en-US" dirty="0">
              <a:solidFill>
                <a:schemeClr val="bg1"/>
              </a:solidFill>
              <a:latin typeface="Bahamas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0600" y="1182469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IV</a:t>
            </a:r>
            <a:r>
              <a:rPr lang="en-US" sz="3600" dirty="0" smtClean="0"/>
              <a:t>. </a:t>
            </a:r>
            <a:r>
              <a:rPr lang="en-US" sz="2800" dirty="0" smtClean="0"/>
              <a:t>Interface</a:t>
            </a:r>
            <a:endParaRPr lang="en-US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1752599" y="1873596"/>
            <a:ext cx="4099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/>
              <a:t> </a:t>
            </a:r>
            <a:r>
              <a:rPr lang="en-US" dirty="0" smtClean="0"/>
              <a:t> View patient information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2209800"/>
            <a:ext cx="6172200" cy="411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660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3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492875"/>
            <a:ext cx="381000" cy="365125"/>
          </a:xfrm>
        </p:spPr>
        <p:txBody>
          <a:bodyPr/>
          <a:lstStyle/>
          <a:p>
            <a:fld id="{344FD16A-E3FF-4CFC-B3EE-A6F7727BED3D}" type="slidenum">
              <a:rPr lang="en-US" sz="2000" smtClean="0">
                <a:solidFill>
                  <a:schemeClr val="bg1"/>
                </a:solidFill>
                <a:latin typeface="Duepuntozero" pitchFamily="2" charset="0"/>
              </a:rPr>
              <a:t>21</a:t>
            </a:fld>
            <a:endParaRPr lang="en-US" sz="2000" dirty="0">
              <a:solidFill>
                <a:schemeClr val="bg1"/>
              </a:solidFill>
              <a:latin typeface="Duepuntozero" pitchFamily="2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28600" y="0"/>
            <a:ext cx="8642757" cy="6519626"/>
            <a:chOff x="228600" y="15875"/>
            <a:chExt cx="8642757" cy="6519626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600" y="15875"/>
              <a:ext cx="5219700" cy="1238250"/>
            </a:xfrm>
            <a:prstGeom prst="rect">
              <a:avLst/>
            </a:prstGeom>
          </p:spPr>
        </p:pic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000" y="1254125"/>
              <a:ext cx="8490357" cy="5281376"/>
            </a:xfrm>
            <a:prstGeom prst="rect">
              <a:avLst/>
            </a:prstGeom>
          </p:spPr>
        </p:pic>
      </p:grpSp>
      <p:sp>
        <p:nvSpPr>
          <p:cNvPr id="3" name="TextBox 2"/>
          <p:cNvSpPr txBox="1"/>
          <p:nvPr/>
        </p:nvSpPr>
        <p:spPr>
          <a:xfrm>
            <a:off x="7543800" y="209490"/>
            <a:ext cx="1181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Bahamas" pitchFamily="2" charset="0"/>
              </a:rPr>
              <a:t>Group</a:t>
            </a:r>
            <a:r>
              <a:rPr lang="en-US" dirty="0" smtClean="0">
                <a:solidFill>
                  <a:schemeClr val="bg1"/>
                </a:solidFill>
                <a:latin typeface="Bahamas" pitchFamily="2" charset="0"/>
              </a:rPr>
              <a:t> 10</a:t>
            </a:r>
            <a:endParaRPr lang="en-US" dirty="0">
              <a:solidFill>
                <a:schemeClr val="bg1"/>
              </a:solidFill>
              <a:latin typeface="Bahamas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0600" y="1182469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IV</a:t>
            </a:r>
            <a:r>
              <a:rPr lang="en-US" sz="3600" dirty="0" smtClean="0"/>
              <a:t>. </a:t>
            </a:r>
            <a:r>
              <a:rPr lang="en-US" sz="2800" dirty="0" smtClean="0"/>
              <a:t>Interface</a:t>
            </a:r>
            <a:endParaRPr lang="en-US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1752599" y="1873596"/>
            <a:ext cx="4099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/>
              <a:t> </a:t>
            </a:r>
            <a:r>
              <a:rPr lang="en-US" dirty="0" smtClean="0"/>
              <a:t> View treatment information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286000"/>
            <a:ext cx="6096000" cy="407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863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3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492875"/>
            <a:ext cx="381000" cy="365125"/>
          </a:xfrm>
        </p:spPr>
        <p:txBody>
          <a:bodyPr/>
          <a:lstStyle/>
          <a:p>
            <a:fld id="{344FD16A-E3FF-4CFC-B3EE-A6F7727BED3D}" type="slidenum">
              <a:rPr lang="en-US" sz="2000" smtClean="0">
                <a:solidFill>
                  <a:schemeClr val="bg1"/>
                </a:solidFill>
                <a:latin typeface="Duepuntozero" pitchFamily="2" charset="0"/>
              </a:rPr>
              <a:t>22</a:t>
            </a:fld>
            <a:endParaRPr lang="en-US" sz="2000" dirty="0">
              <a:solidFill>
                <a:schemeClr val="bg1"/>
              </a:solidFill>
              <a:latin typeface="Duepuntozero" pitchFamily="2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28600" y="0"/>
            <a:ext cx="8642757" cy="6519626"/>
            <a:chOff x="228600" y="15875"/>
            <a:chExt cx="8642757" cy="6519626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600" y="15875"/>
              <a:ext cx="5219700" cy="1238250"/>
            </a:xfrm>
            <a:prstGeom prst="rect">
              <a:avLst/>
            </a:prstGeom>
          </p:spPr>
        </p:pic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000" y="1254125"/>
              <a:ext cx="8490357" cy="5281376"/>
            </a:xfrm>
            <a:prstGeom prst="rect">
              <a:avLst/>
            </a:prstGeom>
          </p:spPr>
        </p:pic>
      </p:grpSp>
      <p:sp>
        <p:nvSpPr>
          <p:cNvPr id="3" name="TextBox 2"/>
          <p:cNvSpPr txBox="1"/>
          <p:nvPr/>
        </p:nvSpPr>
        <p:spPr>
          <a:xfrm>
            <a:off x="7543800" y="209490"/>
            <a:ext cx="1181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Bahamas" pitchFamily="2" charset="0"/>
              </a:rPr>
              <a:t>Group</a:t>
            </a:r>
            <a:r>
              <a:rPr lang="en-US" dirty="0" smtClean="0">
                <a:solidFill>
                  <a:schemeClr val="bg1"/>
                </a:solidFill>
                <a:latin typeface="Bahamas" pitchFamily="2" charset="0"/>
              </a:rPr>
              <a:t> 10</a:t>
            </a:r>
            <a:endParaRPr lang="en-US" dirty="0">
              <a:solidFill>
                <a:schemeClr val="bg1"/>
              </a:solidFill>
              <a:latin typeface="Bahamas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7800" y="1411069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V</a:t>
            </a:r>
            <a:r>
              <a:rPr lang="en-US" sz="3600" dirty="0" smtClean="0"/>
              <a:t>. </a:t>
            </a:r>
            <a:r>
              <a:rPr lang="en-US" sz="2800" dirty="0" smtClean="0"/>
              <a:t>Conclusion</a:t>
            </a:r>
            <a:endParaRPr lang="en-US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2301289" y="2286000"/>
            <a:ext cx="40995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dirty="0"/>
              <a:t> </a:t>
            </a:r>
            <a:r>
              <a:rPr lang="en-US" sz="2400" dirty="0" smtClean="0"/>
              <a:t> </a:t>
            </a:r>
            <a:r>
              <a:rPr lang="ca-ES" dirty="0" smtClean="0">
                <a:latin typeface="Khmer OS" pitchFamily="2" charset="0"/>
                <a:cs typeface="Khmer OS" pitchFamily="2" charset="0"/>
              </a:rPr>
              <a:t>លទ្ធភាពនៃប្រព័ន្ធ</a:t>
            </a:r>
            <a:r>
              <a:rPr lang="en-US" dirty="0" smtClean="0">
                <a:latin typeface="Khmer OS" pitchFamily="2" charset="0"/>
                <a:cs typeface="Khmer OS" pitchFamily="2" charset="0"/>
              </a:rPr>
              <a:t> Database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980" y="1212850"/>
            <a:ext cx="812698" cy="812698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981329" y="2971800"/>
            <a:ext cx="7277100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ca-ES" dirty="0" smtClean="0">
                <a:latin typeface="Khmer OS" pitchFamily="2" charset="0"/>
                <a:cs typeface="Khmer OS" pitchFamily="2" charset="0"/>
              </a:rPr>
              <a:t>ផ្តល់ភាពងាយស្រួលក្នុងការបញ្ចូលទិន្នន័យ</a:t>
            </a:r>
            <a:endParaRPr lang="en-US" dirty="0" smtClean="0">
              <a:latin typeface="Khmer OS" pitchFamily="2" charset="0"/>
              <a:cs typeface="Khmer OS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ca-ES" dirty="0" smtClean="0">
                <a:latin typeface="Khmer OS" pitchFamily="2" charset="0"/>
                <a:cs typeface="Khmer OS" pitchFamily="2" charset="0"/>
              </a:rPr>
              <a:t>ផ្តល់់ភាពងាយស្រួលក្នុងការស្វែងរក</a:t>
            </a:r>
            <a:endParaRPr lang="en-US" dirty="0" smtClean="0">
              <a:latin typeface="Khmer OS" pitchFamily="2" charset="0"/>
              <a:cs typeface="Khmer OS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ca-ES" dirty="0" smtClean="0">
                <a:latin typeface="Khmer OS" pitchFamily="2" charset="0"/>
                <a:cs typeface="Khmer OS" pitchFamily="2" charset="0"/>
              </a:rPr>
              <a:t>ផ្តល់ភាពងាយស្រួលក្នុងការចេញវិក័យប័ត្រ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ca-ES" dirty="0" smtClean="0">
                <a:latin typeface="Khmer OS" pitchFamily="2" charset="0"/>
                <a:cs typeface="Khmer OS" pitchFamily="2" charset="0"/>
              </a:rPr>
              <a:t>ទិន្នន័យមានសុវត្ថិភាពខ្ពស់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ca-ES" dirty="0" smtClean="0">
                <a:latin typeface="Khmer OS" pitchFamily="2" charset="0"/>
                <a:cs typeface="Khmer OS" pitchFamily="2" charset="0"/>
              </a:rPr>
              <a:t>ផ្តល់ភាពងាយស្រួលក្នុងការធ្វើរបាយការណ៍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ca-ES" dirty="0" smtClean="0">
                <a:latin typeface="Khmer OS" pitchFamily="2" charset="0"/>
                <a:cs typeface="Khmer OS" pitchFamily="2" charset="0"/>
              </a:rPr>
              <a:t>ផ្តល់ភាពងាយស្រួលក្នុងការធ្វើការណាត់ជួប</a:t>
            </a:r>
            <a:endParaRPr lang="en-US" dirty="0" smtClean="0">
              <a:latin typeface="Khmer OS" pitchFamily="2" charset="0"/>
              <a:cs typeface="Khmer OS" pitchFamily="2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057400"/>
            <a:ext cx="722117" cy="72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303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3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1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2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5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3" grpId="0"/>
      <p:bldP spid="6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492875"/>
            <a:ext cx="381000" cy="365125"/>
          </a:xfrm>
        </p:spPr>
        <p:txBody>
          <a:bodyPr/>
          <a:lstStyle/>
          <a:p>
            <a:fld id="{344FD16A-E3FF-4CFC-B3EE-A6F7727BED3D}" type="slidenum">
              <a:rPr lang="en-US" sz="2000" smtClean="0">
                <a:solidFill>
                  <a:schemeClr val="bg1"/>
                </a:solidFill>
                <a:latin typeface="Duepuntozero" pitchFamily="2" charset="0"/>
              </a:rPr>
              <a:t>23</a:t>
            </a:fld>
            <a:endParaRPr lang="en-US" sz="2000" dirty="0">
              <a:solidFill>
                <a:schemeClr val="bg1"/>
              </a:solidFill>
              <a:latin typeface="Duepuntozero" pitchFamily="2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28600" y="0"/>
            <a:ext cx="8642757" cy="6519626"/>
            <a:chOff x="228600" y="15875"/>
            <a:chExt cx="8642757" cy="6519626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600" y="15875"/>
              <a:ext cx="5219700" cy="1238250"/>
            </a:xfrm>
            <a:prstGeom prst="rect">
              <a:avLst/>
            </a:prstGeom>
          </p:spPr>
        </p:pic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000" y="1254125"/>
              <a:ext cx="8490357" cy="5281376"/>
            </a:xfrm>
            <a:prstGeom prst="rect">
              <a:avLst/>
            </a:prstGeom>
          </p:spPr>
        </p:pic>
      </p:grpSp>
      <p:sp>
        <p:nvSpPr>
          <p:cNvPr id="3" name="TextBox 2"/>
          <p:cNvSpPr txBox="1"/>
          <p:nvPr/>
        </p:nvSpPr>
        <p:spPr>
          <a:xfrm>
            <a:off x="7543800" y="209490"/>
            <a:ext cx="1181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Bahamas" pitchFamily="2" charset="0"/>
              </a:rPr>
              <a:t>Group</a:t>
            </a:r>
            <a:r>
              <a:rPr lang="en-US" dirty="0" smtClean="0">
                <a:solidFill>
                  <a:schemeClr val="bg1"/>
                </a:solidFill>
                <a:latin typeface="Bahamas" pitchFamily="2" charset="0"/>
              </a:rPr>
              <a:t> 10</a:t>
            </a:r>
            <a:endParaRPr lang="en-US" dirty="0">
              <a:solidFill>
                <a:schemeClr val="bg1"/>
              </a:solidFill>
              <a:latin typeface="Bahamas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7800" y="1411069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V</a:t>
            </a:r>
            <a:r>
              <a:rPr lang="en-US" sz="3600" dirty="0" smtClean="0"/>
              <a:t>. </a:t>
            </a:r>
            <a:r>
              <a:rPr lang="en-US" sz="2800" dirty="0" smtClean="0"/>
              <a:t>Conclusion​ Continue</a:t>
            </a:r>
            <a:endParaRPr lang="en-US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2301289" y="2286000"/>
            <a:ext cx="40995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dirty="0"/>
              <a:t> </a:t>
            </a:r>
            <a:r>
              <a:rPr lang="en-US" sz="2400" dirty="0" smtClean="0"/>
              <a:t> </a:t>
            </a:r>
            <a:r>
              <a:rPr lang="ca-ES" dirty="0" smtClean="0">
                <a:latin typeface="Khmer OS" pitchFamily="2" charset="0"/>
                <a:cs typeface="Khmer OS" pitchFamily="2" charset="0"/>
              </a:rPr>
              <a:t>ចំនុចខ្វះខាតនៃប្រព័ន្ធ</a:t>
            </a:r>
            <a:r>
              <a:rPr lang="en-US" dirty="0" smtClean="0">
                <a:latin typeface="Khmer OS" pitchFamily="2" charset="0"/>
                <a:cs typeface="Khmer OS" pitchFamily="2" charset="0"/>
              </a:rPr>
              <a:t> Database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980" y="1212850"/>
            <a:ext cx="812698" cy="812698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981329" y="2971800"/>
            <a:ext cx="7277100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ca-ES" dirty="0" smtClean="0">
                <a:latin typeface="Khmer OS" pitchFamily="2" charset="0"/>
                <a:cs typeface="Khmer OS" pitchFamily="2" charset="0"/>
              </a:rPr>
              <a:t>ពុំទាន់អាចគ្រប់គ្រងទៅលើប្រាក់ខែរបស់បុគ្គលិក និង ទន្តពេទ្យ</a:t>
            </a:r>
            <a:endParaRPr lang="en-US" dirty="0" smtClean="0">
              <a:latin typeface="Khmer OS" pitchFamily="2" charset="0"/>
              <a:cs typeface="Khmer OS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ca-ES" dirty="0" smtClean="0">
                <a:latin typeface="Khmer OS" pitchFamily="2" charset="0"/>
                <a:cs typeface="Khmer OS" pitchFamily="2" charset="0"/>
              </a:rPr>
              <a:t>ពុំទាន់អាចគ្រប់គ្រងទៅបុគ្គលិក និង ទន្តពេទ្យបានទូលំទូលាយ ដូចជា ការគ្រប់គ្រងទៅលើ វិជ្ជមានជាដើម។</a:t>
            </a:r>
            <a:endParaRPr lang="en-US" dirty="0" smtClean="0">
              <a:latin typeface="Khmer OS" pitchFamily="2" charset="0"/>
              <a:cs typeface="Khmer OS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ca-ES" dirty="0" smtClean="0">
                <a:latin typeface="Khmer OS" pitchFamily="2" charset="0"/>
                <a:cs typeface="Khmer OS" pitchFamily="2" charset="0"/>
              </a:rPr>
              <a:t>ពុំទាន់អាចគ្រប់គ្រងទៅលើថ្នាំពេទ្យ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ca-ES" dirty="0" smtClean="0">
                <a:latin typeface="Khmer OS" pitchFamily="2" charset="0"/>
                <a:cs typeface="Khmer OS" pitchFamily="2" charset="0"/>
              </a:rPr>
              <a:t>និង ផ្សេងៗទៀត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0732" y="2027780"/>
            <a:ext cx="766635" cy="76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406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3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1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2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5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3" grpId="0"/>
      <p:bldP spid="6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492875"/>
            <a:ext cx="381000" cy="365125"/>
          </a:xfrm>
        </p:spPr>
        <p:txBody>
          <a:bodyPr/>
          <a:lstStyle/>
          <a:p>
            <a:fld id="{344FD16A-E3FF-4CFC-B3EE-A6F7727BED3D}" type="slidenum">
              <a:rPr lang="en-US" sz="2000" smtClean="0">
                <a:solidFill>
                  <a:schemeClr val="bg1"/>
                </a:solidFill>
                <a:latin typeface="Duepuntozero" pitchFamily="2" charset="0"/>
              </a:rPr>
              <a:t>24</a:t>
            </a:fld>
            <a:endParaRPr lang="en-US" sz="2000" dirty="0">
              <a:solidFill>
                <a:schemeClr val="bg1"/>
              </a:solidFill>
              <a:latin typeface="Duepuntozero" pitchFamily="2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28600" y="0"/>
            <a:ext cx="8642757" cy="6519626"/>
            <a:chOff x="228600" y="15875"/>
            <a:chExt cx="8642757" cy="6519626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600" y="15875"/>
              <a:ext cx="5219700" cy="1238250"/>
            </a:xfrm>
            <a:prstGeom prst="rect">
              <a:avLst/>
            </a:prstGeom>
          </p:spPr>
        </p:pic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000" y="1254125"/>
              <a:ext cx="8490357" cy="5281376"/>
            </a:xfrm>
            <a:prstGeom prst="rect">
              <a:avLst/>
            </a:prstGeom>
          </p:spPr>
        </p:pic>
      </p:grpSp>
      <p:sp>
        <p:nvSpPr>
          <p:cNvPr id="3" name="TextBox 2"/>
          <p:cNvSpPr txBox="1"/>
          <p:nvPr/>
        </p:nvSpPr>
        <p:spPr>
          <a:xfrm>
            <a:off x="7543800" y="209490"/>
            <a:ext cx="1181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Bahamas" pitchFamily="2" charset="0"/>
              </a:rPr>
              <a:t>Group</a:t>
            </a:r>
            <a:r>
              <a:rPr lang="en-US" dirty="0" smtClean="0">
                <a:solidFill>
                  <a:schemeClr val="bg1"/>
                </a:solidFill>
                <a:latin typeface="Bahamas" pitchFamily="2" charset="0"/>
              </a:rPr>
              <a:t> 10</a:t>
            </a:r>
            <a:endParaRPr lang="en-US" dirty="0">
              <a:solidFill>
                <a:schemeClr val="bg1"/>
              </a:solidFill>
              <a:latin typeface="Bahamas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7800" y="1524000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VI</a:t>
            </a:r>
            <a:r>
              <a:rPr lang="en-US" sz="3600" dirty="0" smtClean="0"/>
              <a:t>. </a:t>
            </a:r>
            <a:r>
              <a:rPr lang="en-US" sz="2800" dirty="0" smtClean="0"/>
              <a:t>Reference</a:t>
            </a:r>
            <a:endParaRPr lang="en-US" sz="2800" dirty="0"/>
          </a:p>
        </p:txBody>
      </p:sp>
      <p:sp>
        <p:nvSpPr>
          <p:cNvPr id="69" name="TextBox 68"/>
          <p:cNvSpPr txBox="1"/>
          <p:nvPr/>
        </p:nvSpPr>
        <p:spPr>
          <a:xfrm>
            <a:off x="838200" y="2286000"/>
            <a:ext cx="7454951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smtClean="0">
                <a:latin typeface="Khmer OS" pitchFamily="2" charset="0"/>
                <a:cs typeface="Khmer OS" pitchFamily="2" charset="0"/>
              </a:rPr>
              <a:t>-  Microsoft </a:t>
            </a:r>
            <a:r>
              <a:rPr lang="en-US" dirty="0">
                <a:latin typeface="Khmer OS" pitchFamily="2" charset="0"/>
                <a:cs typeface="Khmer OS" pitchFamily="2" charset="0"/>
              </a:rPr>
              <a:t>Office Access 2007 Database System  </a:t>
            </a:r>
            <a:endParaRPr lang="en-US" dirty="0" smtClean="0">
              <a:latin typeface="Khmer OS" pitchFamily="2" charset="0"/>
              <a:cs typeface="Khmer OS" pitchFamily="2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smtClean="0">
                <a:latin typeface="Khmer OS" pitchFamily="2" charset="0"/>
                <a:cs typeface="Khmer OS" pitchFamily="2" charset="0"/>
              </a:rPr>
              <a:t>  ( </a:t>
            </a:r>
            <a:r>
              <a:rPr lang="en-US" dirty="0">
                <a:latin typeface="Khmer OS" pitchFamily="2" charset="0"/>
                <a:cs typeface="Khmer OS" pitchFamily="2" charset="0"/>
              </a:rPr>
              <a:t>Prepared </a:t>
            </a:r>
            <a:r>
              <a:rPr lang="en-US" dirty="0" smtClean="0">
                <a:latin typeface="Khmer OS" pitchFamily="2" charset="0"/>
                <a:cs typeface="Khmer OS" pitchFamily="2" charset="0"/>
              </a:rPr>
              <a:t>by </a:t>
            </a:r>
            <a:r>
              <a:rPr lang="en-US" dirty="0">
                <a:latin typeface="Khmer OS" pitchFamily="2" charset="0"/>
                <a:cs typeface="Khmer OS" pitchFamily="2" charset="0"/>
              </a:rPr>
              <a:t>: </a:t>
            </a:r>
            <a:r>
              <a:rPr lang="en-US" dirty="0" smtClean="0">
                <a:latin typeface="Khmer OS" pitchFamily="2" charset="0"/>
                <a:cs typeface="Khmer OS" pitchFamily="2" charset="0"/>
              </a:rPr>
              <a:t>   </a:t>
            </a:r>
            <a:r>
              <a:rPr lang="en-US" dirty="0" err="1" smtClean="0">
                <a:latin typeface="Khmer OS" pitchFamily="2" charset="0"/>
                <a:cs typeface="Khmer OS" pitchFamily="2" charset="0"/>
              </a:rPr>
              <a:t>Msc</a:t>
            </a:r>
            <a:r>
              <a:rPr lang="en-US" dirty="0">
                <a:latin typeface="Khmer OS" pitchFamily="2" charset="0"/>
                <a:cs typeface="Khmer OS" pitchFamily="2" charset="0"/>
              </a:rPr>
              <a:t>. </a:t>
            </a:r>
            <a:r>
              <a:rPr lang="en-US" dirty="0" err="1">
                <a:latin typeface="Khmer OS" pitchFamily="2" charset="0"/>
                <a:cs typeface="Khmer OS" pitchFamily="2" charset="0"/>
              </a:rPr>
              <a:t>Kheam</a:t>
            </a:r>
            <a:r>
              <a:rPr lang="en-US" dirty="0">
                <a:latin typeface="Khmer OS" pitchFamily="2" charset="0"/>
                <a:cs typeface="Khmer OS" pitchFamily="2" charset="0"/>
              </a:rPr>
              <a:t> Hong ) 2010-2011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smtClean="0">
                <a:latin typeface="Khmer OS" pitchFamily="2" charset="0"/>
                <a:cs typeface="Khmer OS" pitchFamily="2" charset="0"/>
              </a:rPr>
              <a:t>-  </a:t>
            </a:r>
            <a:r>
              <a:rPr lang="en-US" dirty="0" err="1" smtClean="0">
                <a:latin typeface="Khmer OS" pitchFamily="2" charset="0"/>
                <a:cs typeface="Khmer OS" pitchFamily="2" charset="0"/>
              </a:rPr>
              <a:t>DentSuite</a:t>
            </a:r>
            <a:r>
              <a:rPr lang="en-US" dirty="0" smtClean="0">
                <a:latin typeface="Khmer OS" pitchFamily="2" charset="0"/>
                <a:cs typeface="Khmer OS" pitchFamily="2" charset="0"/>
              </a:rPr>
              <a:t> </a:t>
            </a:r>
            <a:r>
              <a:rPr lang="en-US" dirty="0">
                <a:latin typeface="Khmer OS" pitchFamily="2" charset="0"/>
                <a:cs typeface="Khmer OS" pitchFamily="2" charset="0"/>
              </a:rPr>
              <a:t>Professional Edition Version 1.0 ( http://soft.ddctvm.com )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ca-ES" dirty="0" smtClean="0">
                <a:latin typeface="Khmer OS" pitchFamily="2" charset="0"/>
                <a:cs typeface="Khmer OS" pitchFamily="2" charset="0"/>
              </a:rPr>
              <a:t>database-systems-design-implementation-and-management-sixth-edition.9780619213237.25759.pdf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ca-ES" dirty="0" smtClean="0">
                <a:latin typeface="Khmer OS" pitchFamily="2" charset="0"/>
                <a:cs typeface="Khmer OS" pitchFamily="2" charset="0"/>
              </a:rPr>
              <a:t>Payroll </a:t>
            </a:r>
            <a:r>
              <a:rPr lang="ca-ES" dirty="0">
                <a:latin typeface="Khmer OS" pitchFamily="2" charset="0"/>
                <a:cs typeface="Khmer OS" pitchFamily="2" charset="0"/>
              </a:rPr>
              <a:t>System 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ca-ES" dirty="0">
                <a:latin typeface="Khmer OS" pitchFamily="2" charset="0"/>
                <a:cs typeface="Khmer OS" pitchFamily="2" charset="0"/>
              </a:rPr>
              <a:t>Koy Theara (</a:t>
            </a:r>
            <a:r>
              <a:rPr lang="ca-ES" dirty="0" smtClean="0">
                <a:latin typeface="Khmer OS" pitchFamily="2" charset="0"/>
                <a:cs typeface="Khmer OS" pitchFamily="2" charset="0"/>
              </a:rPr>
              <a:t>Leader) ,Nhep Sitha, Meas Sotvisal, Thap Leakena,   Chea Channita, Hong Somethea,Seak </a:t>
            </a:r>
            <a:r>
              <a:rPr lang="ca-ES" dirty="0">
                <a:latin typeface="Khmer OS" pitchFamily="2" charset="0"/>
                <a:cs typeface="Khmer OS" pitchFamily="2" charset="0"/>
              </a:rPr>
              <a:t>Sovan Ponleu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102" y="1327885"/>
            <a:ext cx="812698" cy="81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311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3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1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2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5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6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492875"/>
            <a:ext cx="381000" cy="365125"/>
          </a:xfrm>
        </p:spPr>
        <p:txBody>
          <a:bodyPr/>
          <a:lstStyle/>
          <a:p>
            <a:fld id="{344FD16A-E3FF-4CFC-B3EE-A6F7727BED3D}" type="slidenum">
              <a:rPr lang="en-US" sz="2000" smtClean="0">
                <a:solidFill>
                  <a:schemeClr val="bg1"/>
                </a:solidFill>
                <a:latin typeface="Duepuntozero" pitchFamily="2" charset="0"/>
              </a:rPr>
              <a:t>25</a:t>
            </a:fld>
            <a:endParaRPr lang="en-US" sz="2000" dirty="0">
              <a:solidFill>
                <a:schemeClr val="bg1"/>
              </a:solidFill>
              <a:latin typeface="Duepuntozero" pitchFamily="2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28600" y="0"/>
            <a:ext cx="8642757" cy="6519626"/>
            <a:chOff x="228600" y="15875"/>
            <a:chExt cx="8642757" cy="6519626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600" y="15875"/>
              <a:ext cx="5219700" cy="1238250"/>
            </a:xfrm>
            <a:prstGeom prst="rect">
              <a:avLst/>
            </a:prstGeom>
          </p:spPr>
        </p:pic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000" y="1254125"/>
              <a:ext cx="8490357" cy="5281376"/>
            </a:xfrm>
            <a:prstGeom prst="rect">
              <a:avLst/>
            </a:prstGeom>
          </p:spPr>
        </p:pic>
      </p:grpSp>
      <p:sp>
        <p:nvSpPr>
          <p:cNvPr id="3" name="TextBox 2"/>
          <p:cNvSpPr txBox="1"/>
          <p:nvPr/>
        </p:nvSpPr>
        <p:spPr>
          <a:xfrm>
            <a:off x="7543800" y="209490"/>
            <a:ext cx="1181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Bahamas" pitchFamily="2" charset="0"/>
              </a:rPr>
              <a:t>Group</a:t>
            </a:r>
            <a:r>
              <a:rPr lang="en-US" dirty="0" smtClean="0">
                <a:solidFill>
                  <a:schemeClr val="bg1"/>
                </a:solidFill>
                <a:latin typeface="Bahamas" pitchFamily="2" charset="0"/>
              </a:rPr>
              <a:t> 10</a:t>
            </a:r>
            <a:endParaRPr lang="en-US" dirty="0">
              <a:solidFill>
                <a:schemeClr val="bg1"/>
              </a:solidFill>
              <a:latin typeface="Bahamas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1600" y="3747209"/>
            <a:ext cx="6686550" cy="97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ca-ES" sz="2000" dirty="0" smtClean="0">
                <a:latin typeface="Khmer OS" pitchFamily="2" charset="0"/>
                <a:cs typeface="Khmer OS" pitchFamily="2" charset="0"/>
              </a:rPr>
              <a:t>សូមអរគុណចំពោះការយកចិត្តស្តាប់ការធ្វើបទបង្ហាញរបស់ក្រុមយើងខ្ញុំ។</a:t>
            </a:r>
            <a:endParaRPr lang="en-US" sz="2000" dirty="0">
              <a:latin typeface="Khmer OS" pitchFamily="2" charset="0"/>
              <a:cs typeface="Khmer OS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05200" y="1981200"/>
            <a:ext cx="2895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6600" dirty="0" smtClean="0">
                <a:solidFill>
                  <a:srgbClr val="FFC000"/>
                </a:solidFill>
                <a:latin typeface="Duepuntozero" pitchFamily="2" charset="0"/>
                <a:cs typeface="Khmer OS" pitchFamily="2" charset="0"/>
              </a:rPr>
              <a:t>Thanks</a:t>
            </a:r>
            <a:endParaRPr lang="en-US" sz="6600" dirty="0">
              <a:solidFill>
                <a:srgbClr val="FFC000"/>
              </a:solidFill>
              <a:latin typeface="Duepuntozero" pitchFamily="2" charset="0"/>
              <a:cs typeface="Khmer OS" pitchFamily="2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230" y="1831726"/>
            <a:ext cx="1219370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445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00"/>
                            </p:stCondLst>
                            <p:childTnLst>
                              <p:par>
                                <p:cTn id="1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800"/>
                            </p:stCondLst>
                            <p:childTnLst>
                              <p:par>
                                <p:cTn id="2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30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806</Words>
  <Application>Microsoft Office PowerPoint</Application>
  <PresentationFormat>On-screen Show (4:3)</PresentationFormat>
  <Paragraphs>196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Bahamas</vt:lpstr>
      <vt:lpstr>Calibri</vt:lpstr>
      <vt:lpstr>Calligraphic</vt:lpstr>
      <vt:lpstr>Duepuntozero</vt:lpstr>
      <vt:lpstr>Khmer OS</vt:lpstr>
      <vt:lpstr>Sputnikk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khmernokor</dc:creator>
  <cp:lastModifiedBy>User</cp:lastModifiedBy>
  <cp:revision>72</cp:revision>
  <dcterms:created xsi:type="dcterms:W3CDTF">2011-06-07T13:46:36Z</dcterms:created>
  <dcterms:modified xsi:type="dcterms:W3CDTF">2020-08-23T11:49:40Z</dcterms:modified>
</cp:coreProperties>
</file>